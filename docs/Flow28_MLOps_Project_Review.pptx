
<file path=[Content_Types].xml><?xml version="1.0" encoding="utf-8"?>
<Types xmlns="http://schemas.openxmlformats.org/package/2006/content-types"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Default Extension="png" ContentType="image/png"/>
  <Override PartName="/ppt/charts/chart1.xml" ContentType="application/vnd.openxmlformats-officedocument.drawingml.char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22"/>
    <p:sldId id="273" r:id="rId23"/>
    <p:sldId id="274" r:id="rId24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notesMaster" Target="notesMasters/notesMaster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PSI by feature (threshold 0.2)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PSI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Sheet1!$A$2:$A$5</c:f>
              <c:strCache>
                <c:ptCount val="4"/>
                <c:pt idx="0">
                  <c:v>vehicles</c:v>
                </c:pt>
                <c:pt idx="1">
                  <c:v>temperature_c</c:v>
                </c:pt>
                <c:pt idx="2">
                  <c:v>lag_1</c:v>
                </c:pt>
                <c:pt idx="3">
                  <c:v>rolling_mean_24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0.116</c:v>
                </c:pt>
                <c:pt idx="1">
                  <c:v>0</c:v>
                </c:pt>
                <c:pt idx="2">
                  <c:v>0.116</c:v>
                </c:pt>
                <c:pt idx="3">
                  <c:v>0.592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b"/>
      <c:overlay val="0"/>
    </c:legend>
    <c:plotVisOnly val="1"/>
    <c:dispBlanksAs val="gap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Project 28 — AI-Based Traffic Prediction System with MLOps. Team: K. Mahija (2400080129), Sk. Anjum (2400080003), P. Hasitha (2400080005). Course 24SDAD03, Department of AIDS. Final project review.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Frame the gap: the dataset is public and a notebook already prints a good RMSE. What is missing is the lifecycle around it — versioning, promotion, drift, serving and offline fallback.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Walk left to right: data, processing, features, training, registry, serving, monitoring. Serving and monitoring are red because they are the MLOps edges. The four cards below are the cross-cutting controls: promotion gate, drift monitor, edge cache and advisory engine.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48,120 raw hourly rows reduce to 47,444 supervised rows after lag windows. The split is chronological with cutoff 2 Mar 2017 18:00 — 35,904 train and 11,540 holdout. Never shuffled, because shuffling leaks the future.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Every stage maps to a command or API endpoint. Promote gate and serve are red: no model reaches serving without beating the champion's holdout RMSE for the same dataset tag. The chart is the PSI reading from the latest monitor run — rolling_mean_24 at 0.592 is above the 0.2 threshold.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Metrics are from champion v4 on 11,540 unseen rows. Junction 1 is the busiest and hardest to forecast. The table shows real holdout rows; the last row is a rare spike the model under-predicts, which is the known limit of a point forecast.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These two screens are the evidence trail: the MLOps &amp; data page shows model versions, metrics and the drift flag; the simulation lab shows the virtual-tick feed that powers the demo when no live data source is connected.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Thank the panel and invite questions on the model choice, the promotion rule, the drift threshold or the edge fallback.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4E930-3BA1-5EFA-20B0-BEBCC208A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2A1B9-1397-6612-E825-979125707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861AC-2AEC-F34D-39CC-7B68BBD3C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B2733-80AD-2E0D-4889-200E2EA79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0A169-5B97-CB0C-DD48-601198FCF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45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BC8E-28BB-E712-3026-E90DAA5B6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1465F-3B03-EE0A-6DA6-69B0F5FBA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B7909-E93A-FF8F-5EB8-B0EE6B6E7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55B38-F1ED-5A0F-5CF5-6A93B0729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1F10C-BAE9-DAFF-78FD-B922A0463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419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9CE29-E6EF-C4DC-E67B-AF1AC019D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D8E426-8515-5377-7906-F442259BA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19260-A3BA-C4FA-2953-F09036AE5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2215E-B876-309E-EE9D-DCC14A29C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F1FD2-B803-5B7D-FD7D-7CAA368A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58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DC25E-2595-6EE5-8F37-14DF4611F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6E180-97FA-EA6C-516F-E0F4C7E557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2CA30-38B2-F60C-75DA-49AC31E59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1E376-7A77-5337-C47E-F4D71E41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5D389-3F48-0014-47E0-4E47F981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663E74-28EA-3AEE-C1C2-3AD80BC4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140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A86C8-E47C-1BA7-548B-96302083E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6F88A-FAD4-C095-B23B-90DE31689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A7E91-2F47-DA10-B1D2-D9CDB4AA9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0B63CD-B9C0-022C-6C2A-4F1F85CC2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61EDA-9AFB-D020-A54F-DA85B58A8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4CD78D-1313-BDBB-2EB8-AA76F1F54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E69B58-5B0C-32B7-2D2B-026697D8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6B0FCA-EE95-63A1-BB7A-9BF5ECEE7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502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93AB1-9888-649D-CF81-DAE1AF375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6BD03F-267D-BA82-CC31-88632619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3323A8-E676-A430-E105-B7BD9101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FA074-B5A9-F9C1-50A6-7FCC0520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52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6C7170-DE57-1F66-A007-B84755EE1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2D7BDE-2E9E-B3D2-CB55-046300515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A149C-47D0-3386-EB95-72F2BFC6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8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1D926-1432-535F-D458-B922A315F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24F2A-52E9-648D-C45E-85B8442DD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03B31-3CA2-5B57-D128-E1F19E68D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53FE9A-141E-3C0F-A244-2529DDEBB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D21CD1-87EA-7916-28BB-F9F68F44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F96A5-03F3-E2E0-5977-74B9313B4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68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C1919-4E1C-07CA-FE78-97B7881F8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244D7D-899B-DCDB-6C25-58EAAF006E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3FB63-B1C7-859B-1D08-8C0CC60B4E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18BE5-B3E3-3D23-A839-996EF64E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C490BF-7988-6B33-E9AD-E4F63F39B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7711C-CBA6-04FC-28C7-BE0443054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372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52A1-049C-5C0C-444B-30C9EA8E4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460F1D-09F7-5308-7431-FDB790954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3478C-0EA0-788B-5EB2-080D10D23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4A02F-6F3B-4E18-D802-E6353E7C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F4484-7B54-694F-8E9E-C21DCC336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365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FB9062-D7FC-7043-704C-4A59F0D46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241306-AE2C-B2BE-C208-C494D6602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83E7B-9892-BEB7-01E9-3FBA304E9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C11FF-C127-CD63-D2F4-BDA9F5B16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A6883-B3A8-46C9-A693-B3610B07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15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03FC44-F502-FEF5-C71E-1118FCB60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4267"/>
            <a:ext cx="10515600" cy="5065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64745-3C52-5C54-A70F-4B6869294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0D979-1C74-81DC-57EC-4582A669C0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8768F6-89B6-4659-B8A7-42C2B87EC18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3AF9F-C8AC-679A-045F-170144444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4F912-0838-0604-87EB-78A059D97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257523-ADA8-4657-BC30-54D6856F876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EE4EC3-1BFD-FCB0-EB74-10B6C2FFC0F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86" y="-5705"/>
            <a:ext cx="12192000" cy="95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28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6814F1-29E5-C41C-BDAF-11AA4A5AF9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144000" cy="165576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C00000"/>
                </a:solidFill>
              </a:rPr>
              <a:t>MACHINE LEARNING OPERATIONS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4ED14B6-4901-9E7B-B7CD-34264035B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733479"/>
          </a:xfrm>
        </p:spPr>
        <p:txBody>
          <a:bodyPr/>
          <a:lstStyle/>
          <a:p>
            <a:r>
              <a:rPr lang="en-US" dirty="0"/>
              <a:t>FINAL PROJECT REVIEW · PROJECT 28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75B887-40E7-16B6-F2BF-37FECB49AD44}"/>
              </a:ext>
            </a:extLst>
          </p:cNvPr>
          <p:cNvSpPr txBox="1"/>
          <p:nvPr/>
        </p:nvSpPr>
        <p:spPr>
          <a:xfrm>
            <a:off x="373117" y="1230868"/>
            <a:ext cx="29218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Course Code: </a:t>
            </a:r>
            <a:r>
              <a:rPr lang="en-US" b="1" dirty="0"/>
              <a:t>24SDAD03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124021-FE72-1FF1-2652-6D6062D46759}"/>
              </a:ext>
            </a:extLst>
          </p:cNvPr>
          <p:cNvSpPr txBox="1"/>
          <p:nvPr/>
        </p:nvSpPr>
        <p:spPr>
          <a:xfrm>
            <a:off x="3045373" y="5349875"/>
            <a:ext cx="61012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800" b="1" dirty="0">
                <a:solidFill>
                  <a:srgbClr val="002060"/>
                </a:solidFill>
              </a:rPr>
              <a:t>Department of AIDS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56E9F58-611C-47E2-9723-3446566F1FA8}"/>
              </a:ext>
            </a:extLst>
          </p:cNvPr>
          <p:cNvSpPr txBox="1"/>
          <p:nvPr/>
        </p:nvSpPr>
        <p:spPr>
          <a:xfrm>
            <a:off x="1524000" y="4443450"/>
            <a:ext cx="9144000" cy="924300"/>
          </a:xfrm>
        </p:spPr>
        <p:txBody>
          <a:bodyPr wrap="square" rtlCol="0"/>
          <a:lstStyle/>
          <a:p>
            <a:pPr algn="l"/>
            <a:r>
              <a:rPr sz="2200" b="1">
                <a:solidFill>
                  <a:srgbClr val="002060"/>
                </a:solidFill>
              </a:rPr>
              <a:t>Flow28 — AI-Based Traffic Prediction System with MLOps</a:t>
            </a:r>
          </a:p>
          <a:p>
            <a:pPr algn="l"/>
            <a:r>
              <a:rPr sz="1400">
                <a:solidFill>
                  <a:srgbClr val="404040"/>
                </a:solidFill>
              </a:rPr>
              <a:t>K.Mahija · Sk.Anjum · P.Hasitha    |    2400080129 · 2400080003 · 2400080005</a:t>
            </a:r>
          </a:p>
        </p:txBody>
      </p:sp>
    </p:spTree>
    <p:extLst>
      <p:ext uri="{BB962C8B-B14F-4D97-AF65-F5344CB8AC3E}">
        <p14:creationId xmlns:p14="http://schemas.microsoft.com/office/powerpoint/2010/main" val="2197852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24EB7-8221-AD91-89E0-A21D312DE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3200" b="1"/>
              <a:t>AI-Based Traffic Prediction System with MLOps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B41DB-B203-79E5-2A1C-628F1BDBB6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200" b="1">
                <a:solidFill>
                  <a:srgbClr val="C00000"/>
                </a:solidFill>
              </a:rPr>
              <a:t>Project number : </a:t>
            </a:r>
            <a:r>
              <a:rPr sz="2200">
                <a:solidFill>
                  <a:srgbClr val="262626"/>
                </a:solidFill>
              </a:rPr>
              <a:t>28 — Flow28 traffic command deck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200" b="1">
                <a:solidFill>
                  <a:srgbClr val="C00000"/>
                </a:solidFill>
              </a:rPr>
              <a:t>Student Name(s) : </a:t>
            </a:r>
            <a:r>
              <a:rPr sz="2200">
                <a:solidFill>
                  <a:srgbClr val="262626"/>
                </a:solidFill>
              </a:rPr>
              <a:t>K. Mahija · Sk. Anjum · P. Hasitha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200" b="1">
                <a:solidFill>
                  <a:srgbClr val="C00000"/>
                </a:solidFill>
              </a:rPr>
              <a:t>Registration Number(s) : </a:t>
            </a:r>
            <a:r>
              <a:rPr sz="2200">
                <a:solidFill>
                  <a:srgbClr val="262626"/>
                </a:solidFill>
              </a:rPr>
              <a:t>2400080129 · 2400080003 · 2400080005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200" b="1">
                <a:solidFill>
                  <a:srgbClr val="C00000"/>
                </a:solidFill>
              </a:rPr>
              <a:t>Course / Department : </a:t>
            </a:r>
            <a:r>
              <a:rPr sz="2200">
                <a:solidFill>
                  <a:srgbClr val="262626"/>
                </a:solidFill>
              </a:rPr>
              <a:t>24SDAD03 · Department of AIDS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2200" b="1">
                <a:solidFill>
                  <a:srgbClr val="C00000"/>
                </a:solidFill>
              </a:rPr>
              <a:t>Batch / Section : </a:t>
            </a:r>
            <a:r>
              <a:rPr sz="2200">
                <a:solidFill>
                  <a:srgbClr val="262626"/>
                </a:solidFill>
              </a:rPr>
              <a:t>______________________</a:t>
            </a:r>
          </a:p>
          <a:p>
            <a:pPr>
              <a:lnSpc>
                <a:spcPct val="105000"/>
              </a:lnSpc>
            </a:pPr>
            <a:r>
              <a:rPr sz="2200" b="1">
                <a:solidFill>
                  <a:srgbClr val="C00000"/>
                </a:solidFill>
              </a:rPr>
              <a:t>Faculty / Guide : </a:t>
            </a:r>
            <a:r>
              <a:rPr sz="2200">
                <a:solidFill>
                  <a:srgbClr val="262626"/>
                </a:solidFill>
              </a:rPr>
              <a:t>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841670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99C92-A389-B1BF-18B4-B8B80549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b="1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2A09D-1D8B-D96E-F9C7-C58EC16FC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C00000"/>
                </a:solidFill>
              </a:rPr>
              <a:t>Demand is not static — </a:t>
            </a:r>
            <a:r>
              <a:rPr sz="1900">
                <a:solidFill>
                  <a:srgbClr val="262626"/>
                </a:solidFill>
              </a:rPr>
              <a:t>hour, weekday, season, weather, events and junction all move traffic volume, so one static estimate is wrong for most of the day.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C00000"/>
                </a:solidFill>
              </a:rPr>
              <a:t>Data is not the bottleneck — </a:t>
            </a:r>
            <a:r>
              <a:rPr sz="1900">
                <a:solidFill>
                  <a:srgbClr val="262626"/>
                </a:solidFill>
              </a:rPr>
              <a:t>48,120 hourly records for four junctions (Nov 2015 – Jun 2017) are public; turning them into a live, trustworthy forecast is the hard part.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C00000"/>
                </a:solidFill>
              </a:rPr>
              <a:t>Student projects stop at a notebook — </a:t>
            </a:r>
            <a:r>
              <a:rPr sz="1900">
                <a:solidFill>
                  <a:srgbClr val="262626"/>
                </a:solidFill>
              </a:rPr>
              <a:t>an RMSE is printed once, then nothing is versioned, monitored or served to anyone.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C00000"/>
                </a:solidFill>
              </a:rPr>
              <a:t>No operational safety net — </a:t>
            </a:r>
            <a:r>
              <a:rPr sz="1900">
                <a:solidFill>
                  <a:srgbClr val="262626"/>
                </a:solidFill>
              </a:rPr>
              <a:t>nothing gates a bad model, reports input drift, or keeps forecasting when the network link drops.</a:t>
            </a:r>
          </a:p>
          <a:p>
            <a:r>
              <a:rPr sz="1900" b="1">
                <a:solidFill>
                  <a:srgbClr val="C00000"/>
                </a:solidFill>
              </a:rPr>
              <a:t>Why this needs an MLOps solution — </a:t>
            </a:r>
            <a:r>
              <a:rPr sz="1900">
                <a:solidFill>
                  <a:srgbClr val="262626"/>
                </a:solidFill>
              </a:rPr>
              <a:t>a forecast is useful only if it can be retrained, promoted on evidence, monitored for drift and served continuously.</a:t>
            </a:r>
          </a:p>
        </p:txBody>
      </p:sp>
    </p:spTree>
    <p:extLst>
      <p:ext uri="{BB962C8B-B14F-4D97-AF65-F5344CB8AC3E}">
        <p14:creationId xmlns:p14="http://schemas.microsoft.com/office/powerpoint/2010/main" val="189606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FEE6F-8B86-83B3-07C6-5CBA9E27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b="1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514B4-E1E6-F892-D051-3E491C01C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900"/>
              </a:spcAft>
            </a:pPr>
            <a:r>
              <a:rPr sz="1800" b="1">
                <a:solidFill>
                  <a:srgbClr val="C00000"/>
                </a:solidFill>
              </a:rPr>
              <a:t>Reproducible lifecycle — </a:t>
            </a:r>
            <a:r>
              <a:rPr sz="1800">
                <a:solidFill>
                  <a:srgbClr val="262626"/>
                </a:solidFill>
              </a:rPr>
              <a:t>validate, engineer features, train, register, serve and monitor from one command.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00000"/>
                </a:solidFill>
              </a:rPr>
              <a:t>Next-hour forecast per junction — </a:t>
            </a:r>
            <a:r>
              <a:rPr sz="1800">
                <a:solidFill>
                  <a:srgbClr val="262626"/>
                </a:solidFill>
              </a:rPr>
              <a:t>plus a 6–48 h recursive outlook for day-ahead planning.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00000"/>
                </a:solidFill>
              </a:rPr>
              <a:t>Evidence-gated promotion — </a:t>
            </a:r>
            <a:r>
              <a:rPr sz="1800">
                <a:solidFill>
                  <a:srgbClr val="262626"/>
                </a:solidFill>
              </a:rPr>
              <a:t>a candidate replaces the champion only on a better holdout RMSE for the same dataset.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00000"/>
                </a:solidFill>
              </a:rPr>
              <a:t>Drift before damage — </a:t>
            </a:r>
            <a:r>
              <a:rPr sz="1800">
                <a:solidFill>
                  <a:srgbClr val="262626"/>
                </a:solidFill>
              </a:rPr>
              <a:t>PSI on input features turns data change into a reviewed retrain decision, not a silent failure.</a:t>
            </a:r>
          </a:p>
          <a:p>
            <a:pPr>
              <a:spcAft>
                <a:spcPts val="900"/>
              </a:spcAft>
            </a:pPr>
            <a:r>
              <a:rPr sz="1800" b="1">
                <a:solidFill>
                  <a:srgbClr val="C00000"/>
                </a:solidFill>
              </a:rPr>
              <a:t>Operator workspace — </a:t>
            </a:r>
            <a:r>
              <a:rPr sz="1800">
                <a:solidFill>
                  <a:srgbClr val="262626"/>
                </a:solidFill>
              </a:rPr>
              <a:t>a FastAPI service plus a fifteen-module Streamlit UI for alerts, control, advisory and reports.</a:t>
            </a:r>
          </a:p>
          <a:p>
            <a:r>
              <a:rPr sz="1800" b="1">
                <a:solidFill>
                  <a:srgbClr val="C00000"/>
                </a:solidFill>
              </a:rPr>
              <a:t>Expected outcome — </a:t>
            </a:r>
            <a:r>
              <a:rPr sz="1800">
                <a:solidFill>
                  <a:srgbClr val="262626"/>
                </a:solidFill>
              </a:rPr>
              <a:t>an auditable, versioned, deployable traffic-forecasting service with offline edge fallback.</a:t>
            </a:r>
          </a:p>
        </p:txBody>
      </p:sp>
    </p:spTree>
    <p:extLst>
      <p:ext uri="{BB962C8B-B14F-4D97-AF65-F5344CB8AC3E}">
        <p14:creationId xmlns:p14="http://schemas.microsoft.com/office/powerpoint/2010/main" val="54185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F9190-3140-CB36-8EA6-7E5C449FA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b="1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E05B8-46B5-7CC3-B286-F159988D8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5105400" cy="4352925"/>
          </a:xfrm>
        </p:spPr>
        <p:txBody>
          <a:bodyPr/>
          <a:lstStyle/>
          <a:p>
            <a:pPr>
              <a:spcAft>
                <a:spcPts val="1100"/>
              </a:spcAft>
            </a:pPr>
            <a:r>
              <a:rPr sz="1500" b="1">
                <a:solidFill>
                  <a:srgbClr val="C00000"/>
                </a:solidFill>
              </a:rPr>
              <a:t>One lifecycle, one dataset — </a:t>
            </a:r>
            <a:r>
              <a:rPr sz="1500">
                <a:solidFill>
                  <a:srgbClr val="262626"/>
                </a:solidFill>
              </a:rPr>
              <a:t>validate, engineer, train, register, promote, serve, monitor, retrain.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C00000"/>
                </a:solidFill>
              </a:rPr>
              <a:t>Two surfaces — </a:t>
            </a:r>
            <a:r>
              <a:rPr sz="1500">
                <a:solidFill>
                  <a:srgbClr val="262626"/>
                </a:solidFill>
              </a:rPr>
              <a:t>FastAPI serves forecasts; a CSS-only Streamlit workspace adds fifteen operator modules.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C00000"/>
                </a:solidFill>
              </a:rPr>
              <a:t>Registry, not preference — </a:t>
            </a:r>
            <a:r>
              <a:rPr sz="1500">
                <a:solidFill>
                  <a:srgbClr val="262626"/>
                </a:solidFill>
              </a:rPr>
              <a:t>the champion alias moves only when holdout RMSE improves.</a:t>
            </a:r>
          </a:p>
          <a:p>
            <a:pPr>
              <a:spcAft>
                <a:spcPts val="1100"/>
              </a:spcAft>
            </a:pPr>
            <a:r>
              <a:rPr sz="1500" b="1">
                <a:solidFill>
                  <a:srgbClr val="C00000"/>
                </a:solidFill>
              </a:rPr>
              <a:t>Digital twin — </a:t>
            </a:r>
            <a:r>
              <a:rPr sz="1500">
                <a:solidFill>
                  <a:srgbClr val="262626"/>
                </a:solidFill>
              </a:rPr>
              <a:t>virtual sensors, weather, 5G link, edge latency and five controllable devices.</a:t>
            </a:r>
          </a:p>
          <a:p>
            <a:r>
              <a:rPr sz="1500" b="1">
                <a:solidFill>
                  <a:srgbClr val="C00000"/>
                </a:solidFill>
              </a:rPr>
              <a:t>Explainable advisory — </a:t>
            </a:r>
            <a:r>
              <a:rPr sz="1500">
                <a:solidFill>
                  <a:srgbClr val="262626"/>
                </a:solidFill>
              </a:rPr>
              <a:t>every alert, signal plan and corridor recommendation is rule-based and unit-tested.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A6AEA15-1381-45E2-BC48-C642B5C82F99}"/>
              </a:ext>
            </a:extLst>
          </p:cNvPr>
          <p:cNvPicPr/>
          <p:nvPr/>
        </p:nvPicPr>
        <p:blipFill>
          <a:blip r:embed="rId2"/>
          <a:srcRect t="20" b="20"/>
          <a:stretch>
            <a:fillRect/>
          </a:stretch>
        </p:blipFill>
        <p:spPr>
          <a:xfrm>
            <a:off x="6286500" y="1809750"/>
            <a:ext cx="5143500" cy="340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696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D7E12-7828-FC9D-5032-22F5DD44B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b="1"/>
              <a:t>System Architecture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9338743-0923-4DE6-A145-35DBA6D92FE2}"/>
              </a:ext>
            </a:extLst>
          </p:cNvPr>
          <p:cNvSpPr/>
          <p:nvPr/>
        </p:nvSpPr>
        <p:spPr>
          <a:xfrm>
            <a:off x="838200" y="1905000"/>
            <a:ext cx="1428750" cy="876300"/>
          </a:xfrm>
          <a:prstGeom prst="chevron">
            <a:avLst/>
          </a:prstGeom>
          <a:solidFill>
            <a:srgbClr val="00206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Data Source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64EEA92-0591-459F-B084-CD32F448EBB8}"/>
              </a:ext>
            </a:extLst>
          </p:cNvPr>
          <p:cNvSpPr/>
          <p:nvPr/>
        </p:nvSpPr>
        <p:spPr>
          <a:xfrm>
            <a:off x="2352675" y="1905000"/>
            <a:ext cx="1428750" cy="876300"/>
          </a:xfrm>
          <a:prstGeom prst="chevron">
            <a:avLst/>
          </a:prstGeom>
          <a:solidFill>
            <a:srgbClr val="00206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Processing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509B4CD-CEA1-4B32-8BA7-324EA6F25199}"/>
              </a:ext>
            </a:extLst>
          </p:cNvPr>
          <p:cNvSpPr/>
          <p:nvPr/>
        </p:nvSpPr>
        <p:spPr>
          <a:xfrm>
            <a:off x="3867150" y="1905000"/>
            <a:ext cx="1428750" cy="876300"/>
          </a:xfrm>
          <a:prstGeom prst="chevron">
            <a:avLst/>
          </a:prstGeom>
          <a:solidFill>
            <a:srgbClr val="00206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30245AB-AD44-4D6A-B497-A80F4500B4EE}"/>
              </a:ext>
            </a:extLst>
          </p:cNvPr>
          <p:cNvSpPr/>
          <p:nvPr/>
        </p:nvSpPr>
        <p:spPr>
          <a:xfrm>
            <a:off x="5381625" y="1905000"/>
            <a:ext cx="1428750" cy="876300"/>
          </a:xfrm>
          <a:prstGeom prst="chevron">
            <a:avLst/>
          </a:prstGeom>
          <a:solidFill>
            <a:srgbClr val="00206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44B4F82-9C17-419C-8D6D-B727C0C1684B}"/>
              </a:ext>
            </a:extLst>
          </p:cNvPr>
          <p:cNvSpPr/>
          <p:nvPr/>
        </p:nvSpPr>
        <p:spPr>
          <a:xfrm>
            <a:off x="6896100" y="1905000"/>
            <a:ext cx="1428750" cy="876300"/>
          </a:xfrm>
          <a:prstGeom prst="chevron">
            <a:avLst/>
          </a:prstGeom>
          <a:solidFill>
            <a:srgbClr val="00206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Registry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1B5B783-78BF-4E44-BE36-363764228B8F}"/>
              </a:ext>
            </a:extLst>
          </p:cNvPr>
          <p:cNvSpPr/>
          <p:nvPr/>
        </p:nvSpPr>
        <p:spPr>
          <a:xfrm>
            <a:off x="8410575" y="1905000"/>
            <a:ext cx="1428750" cy="876300"/>
          </a:xfrm>
          <a:prstGeom prst="chevron">
            <a:avLst/>
          </a:prstGeom>
          <a:solidFill>
            <a:srgbClr val="C0000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Serving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222A176-EE76-4FD7-9678-38190D682847}"/>
              </a:ext>
            </a:extLst>
          </p:cNvPr>
          <p:cNvSpPr/>
          <p:nvPr/>
        </p:nvSpPr>
        <p:spPr>
          <a:xfrm>
            <a:off x="9925050" y="1905000"/>
            <a:ext cx="1428750" cy="876300"/>
          </a:xfrm>
          <a:prstGeom prst="chevron">
            <a:avLst/>
          </a:prstGeom>
          <a:solidFill>
            <a:srgbClr val="C0000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CF824AB-5F11-46D3-8D4B-10A702DA74FE}"/>
              </a:ext>
            </a:extLst>
          </p:cNvPr>
          <p:cNvSpPr txBox="1"/>
          <p:nvPr/>
        </p:nvSpPr>
        <p:spPr>
          <a:xfrm>
            <a:off x="838200" y="2838450"/>
            <a:ext cx="1428750" cy="6286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Kaggle traffic.csv · 4 junctions · 48,120 hourly rows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052399D-FF45-4E21-A1B3-0155056E196D}"/>
              </a:ext>
            </a:extLst>
          </p:cNvPr>
          <p:cNvSpPr txBox="1"/>
          <p:nvPr/>
        </p:nvSpPr>
        <p:spPr>
          <a:xfrm>
            <a:off x="2352675" y="2838450"/>
            <a:ext cx="1428750" cy="6286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Schema validation, de-duplication, cyclical time encoding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21238B9-9D3D-4632-898F-39DC568016E8}"/>
              </a:ext>
            </a:extLst>
          </p:cNvPr>
          <p:cNvSpPr txBox="1"/>
          <p:nvPr/>
        </p:nvSpPr>
        <p:spPr>
          <a:xfrm>
            <a:off x="3867150" y="2838450"/>
            <a:ext cx="1428750" cy="6286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16 features: lags 1/2/3/24/168, rolling 24 h mean, calendar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5863C4E-FD75-4851-942A-8FE012A35690}"/>
              </a:ext>
            </a:extLst>
          </p:cNvPr>
          <p:cNvSpPr txBox="1"/>
          <p:nvPr/>
        </p:nvSpPr>
        <p:spPr>
          <a:xfrm>
            <a:off x="5381625" y="2838450"/>
            <a:ext cx="1428750" cy="6286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RandomForest pipeline · chronological 80/20 holdout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FDD9DA1F-60FB-4328-BD01-D2775F89D9F3}"/>
              </a:ext>
            </a:extLst>
          </p:cNvPr>
          <p:cNvSpPr txBox="1"/>
          <p:nvPr/>
        </p:nvSpPr>
        <p:spPr>
          <a:xfrm>
            <a:off x="6896100" y="2838450"/>
            <a:ext cx="1428750" cy="6286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MLflow 3.17 · runs, metrics, versions, champion alias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4B6D26F-EF27-485F-96E1-C7FE9FD67674}"/>
              </a:ext>
            </a:extLst>
          </p:cNvPr>
          <p:cNvSpPr txBox="1"/>
          <p:nvPr/>
        </p:nvSpPr>
        <p:spPr>
          <a:xfrm>
            <a:off x="8410575" y="2838450"/>
            <a:ext cx="1428750" cy="6286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FastAPI service + Streamlit 15-module workspace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6B36875-1339-45B6-AC4B-CD5401AE1391}"/>
              </a:ext>
            </a:extLst>
          </p:cNvPr>
          <p:cNvSpPr txBox="1"/>
          <p:nvPr/>
        </p:nvSpPr>
        <p:spPr>
          <a:xfrm>
            <a:off x="9925050" y="2838450"/>
            <a:ext cx="1428750" cy="6286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PSI drift check, edge cache, reviewed retrain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3D4CE4B-C557-46F7-BCB2-083C089A5969}"/>
              </a:ext>
            </a:extLst>
          </p:cNvPr>
          <p:cNvSpPr txBox="1"/>
          <p:nvPr/>
        </p:nvSpPr>
        <p:spPr>
          <a:xfrm>
            <a:off x="838200" y="3562350"/>
            <a:ext cx="10515600" cy="304800"/>
          </a:xfrm>
        </p:spPr>
        <p:txBody>
          <a:bodyPr wrap="square" rtlCol="0"/>
          <a:lstStyle/>
          <a:p>
            <a:pPr algn="l"/>
            <a:r>
              <a:rPr sz="1200" b="1">
                <a:solidFill>
                  <a:srgbClr val="002060"/>
                </a:solidFill>
              </a:rPr>
              <a:t>Cross-cutting controls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6DEFCCDA-BC25-42A6-B441-A4F13EAC6401}"/>
              </a:ext>
            </a:extLst>
          </p:cNvPr>
          <p:cNvSpPr/>
          <p:nvPr/>
        </p:nvSpPr>
        <p:spPr>
          <a:xfrm>
            <a:off x="838200" y="3810000"/>
            <a:ext cx="2476500" cy="9525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1100" b="1">
                <a:solidFill>
                  <a:srgbClr val="002060"/>
                </a:solidFill>
              </a:rPr>
              <a:t>Promotion gate</a:t>
            </a:r>
          </a:p>
          <a:p>
            <a:pPr algn="ctr"/>
            <a:r>
              <a:rPr sz="850">
                <a:solidFill>
                  <a:srgbClr val="404040"/>
                </a:solidFill>
              </a:rPr>
              <a:t>Champion alias moves only when holdout RMSE improves on the same dataset tag.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384CAFE8-B443-4D0B-A4A4-DCBEF4DFE879}"/>
              </a:ext>
            </a:extLst>
          </p:cNvPr>
          <p:cNvSpPr/>
          <p:nvPr/>
        </p:nvSpPr>
        <p:spPr>
          <a:xfrm>
            <a:off x="3419475" y="3810000"/>
            <a:ext cx="2476500" cy="9525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1100" b="1">
                <a:solidFill>
                  <a:srgbClr val="002060"/>
                </a:solidFill>
              </a:rPr>
              <a:t>Drift monitor</a:t>
            </a:r>
          </a:p>
          <a:p>
            <a:pPr algn="ctr"/>
            <a:r>
              <a:rPr sz="850">
                <a:solidFill>
                  <a:srgbClr val="404040"/>
                </a:solidFill>
              </a:rPr>
              <a:t>PSI on four input features against the baseline; 0.2 threshold raises drift_detected.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463285DE-A032-4614-9A63-5ED0565E0DA4}"/>
              </a:ext>
            </a:extLst>
          </p:cNvPr>
          <p:cNvSpPr/>
          <p:nvPr/>
        </p:nvSpPr>
        <p:spPr>
          <a:xfrm>
            <a:off x="6000750" y="3810000"/>
            <a:ext cx="2476500" cy="9525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1100" b="1">
                <a:solidFill>
                  <a:srgbClr val="002060"/>
                </a:solidFill>
              </a:rPr>
              <a:t>Edge cache</a:t>
            </a:r>
          </a:p>
          <a:p>
            <a:pPr algn="ctr"/>
            <a:r>
              <a:rPr sz="850">
                <a:solidFill>
                  <a:srgbClr val="404040"/>
                </a:solidFill>
              </a:rPr>
              <a:t>Champion mirrored as a skops artifact; inference continues when the link drops.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DE99C33F-D164-4FDA-AB15-37880E0FD3C1}"/>
              </a:ext>
            </a:extLst>
          </p:cNvPr>
          <p:cNvSpPr/>
          <p:nvPr/>
        </p:nvSpPr>
        <p:spPr>
          <a:xfrm>
            <a:off x="8583525" y="3810000"/>
            <a:ext cx="2476500" cy="9525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1100" b="1">
                <a:solidFill>
                  <a:srgbClr val="002060"/>
                </a:solidFill>
              </a:rPr>
              <a:t>Advisory engine</a:t>
            </a:r>
          </a:p>
          <a:p>
            <a:pPr algn="ctr"/>
            <a:r>
              <a:rPr sz="850">
                <a:solidFill>
                  <a:srgbClr val="404040"/>
                </a:solidFill>
              </a:rPr>
              <a:t>Alerts, signal plans, corridor rankings and scene triage, all rule-based.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9FECCBBC-CD31-4952-88FC-3E6DE2891EEA}"/>
              </a:ext>
            </a:extLst>
          </p:cNvPr>
          <p:cNvSpPr/>
          <p:nvPr/>
        </p:nvSpPr>
        <p:spPr>
          <a:xfrm>
            <a:off x="838200" y="4953000"/>
            <a:ext cx="10515600" cy="1047750"/>
          </a:xfrm>
          <a:prstGeom prst="roundRect">
            <a:avLst/>
          </a:prstGeom>
          <a:solidFill>
            <a:srgbClr val="002060"/>
          </a:solidFill>
        </p:spPr>
        <p:txBody>
          <a:bodyPr wrap="square" rtlCol="0"/>
          <a:lstStyle/>
          <a:p>
            <a:pPr algn="l"/>
            <a:r>
              <a:rPr sz="1100" b="1">
                <a:solidFill>
                  <a:srgbClr val="FFFFFF"/>
                </a:solidFill>
              </a:rPr>
              <a:t>Request path — </a:t>
            </a:r>
            <a:r>
              <a:rPr sz="1100">
                <a:solidFill>
                  <a:srgbClr val="FFFFFF"/>
                </a:solidFill>
              </a:rPr>
              <a:t>/predict (next hour) · /forecast/horizon (6–48 h) · /train · /monitor · /simulation/tick  →  Streamlit workspace, 15 modules  →  SQLite: predictions, incidents, actions, devices, telemetry, alerts</a:t>
            </a:r>
          </a:p>
          <a:p>
            <a:pPr algn="l"/>
            <a:r>
              <a:rPr sz="1100" b="1">
                <a:solidFill>
                  <a:srgbClr val="FFFFFF"/>
                </a:solidFill>
              </a:rPr>
              <a:t>Feedback loop — </a:t>
            </a:r>
            <a:r>
              <a:rPr sz="1100">
                <a:solidFill>
                  <a:srgbClr val="FFFFFF"/>
                </a:solidFill>
              </a:rPr>
              <a:t>PSI ≥ 0.2 → reviewed retrain → new version registered → champion alias moves only if holdout RMSE improves.</a:t>
            </a:r>
          </a:p>
        </p:txBody>
      </p:sp>
    </p:spTree>
    <p:extLst>
      <p:ext uri="{BB962C8B-B14F-4D97-AF65-F5344CB8AC3E}">
        <p14:creationId xmlns:p14="http://schemas.microsoft.com/office/powerpoint/2010/main" val="370931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DCB03-46DE-BCA9-61EA-E191A6228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lang="en-US" dirty="0"/>
              <a:t>Technology Stack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671BC67-979E-4C1D-8E80-AE8FBB845FE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52625"/>
          <a:ext cx="10515600" cy="29337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4953000"/>
                <a:gridCol w="3276600"/>
              </a:tblGrid>
              <a:tr h="4191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lnL w="9525">
                      <a:solidFill>
                        <a:srgbClr val="D5DBE6"/>
                      </a:solidFill>
                    </a:lnL>
                    <a:lnR w="9525">
                      <a:solidFill>
                        <a:srgbClr val="D5DBE6"/>
                      </a:solidFill>
                    </a:lnR>
                    <a:lnT w="9525">
                      <a:solidFill>
                        <a:srgbClr val="D5DBE6"/>
                      </a:solidFill>
                    </a:lnT>
                    <a:lnB w="9525">
                      <a:solidFill>
                        <a:srgbClr val="D5DBE6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lnL w="9525">
                      <a:solidFill>
                        <a:srgbClr val="D5DBE6"/>
                      </a:solidFill>
                    </a:lnL>
                    <a:lnR w="9525">
                      <a:solidFill>
                        <a:srgbClr val="D5DBE6"/>
                      </a:solidFill>
                    </a:lnR>
                    <a:lnT w="9525">
                      <a:solidFill>
                        <a:srgbClr val="D5DBE6"/>
                      </a:solidFill>
                    </a:lnT>
                    <a:lnB w="9525">
                      <a:solidFill>
                        <a:srgbClr val="D5DBE6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Role in Flow28</a:t>
                      </a:r>
                    </a:p>
                  </a:txBody>
                  <a:tcPr>
                    <a:lnL w="9525">
                      <a:solidFill>
                        <a:srgbClr val="D5DBE6"/>
                      </a:solidFill>
                    </a:lnL>
                    <a:lnR w="9525">
                      <a:solidFill>
                        <a:srgbClr val="D5DBE6"/>
                      </a:solidFill>
                    </a:lnR>
                    <a:lnT w="9525">
                      <a:solidFill>
                        <a:srgbClr val="D5DBE6"/>
                      </a:solidFill>
                    </a:lnT>
                    <a:lnB w="9525">
                      <a:solidFill>
                        <a:srgbClr val="D5DBE6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2060"/>
                          </a:solidFill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pandas · NumPy · Kaggle traffic 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Validation, de-duplication, lag and rolling features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2060"/>
                          </a:solidFill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scikit-learn Pipeline + RandomForestRegressor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OneHotEncoder(junction) + 120 trees, 16 features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2060"/>
                          </a:solidFill>
                        </a:rPr>
                        <a:t>Tracking &amp; 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MLflow 3.17 — SQLite store, file artifacts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Runs, metrics, model versions, champion alias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2060"/>
                          </a:solidFill>
                        </a:rPr>
                        <a:t>Serving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FastAPI + Uvicorn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8 endpoints: predict, horizon, train, monitor, simulation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2060"/>
                          </a:solidFill>
                        </a:rPr>
                        <a:t>Workspace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Streamlit 1.66 + custom CSS design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15 operator modules, zero JavaScript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2060"/>
                          </a:solidFill>
                        </a:rP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SQLite · skops edge cache · Pillow · unittest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262626"/>
                          </a:solidFill>
                        </a:rPr>
                        <a:t>Persistence, offline failover, scene triage, 13 tests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5">
            <a:extLst>
              <a:ext uri="{FF2B5EF4-FFF2-40B4-BE49-F238E27FC236}">
                <a16:creationId xmlns:a16="http://schemas.microsoft.com/office/drawing/2014/main" id="{8B0D03B4-3772-40CE-904A-E8A0BB8EF0BC}"/>
              </a:ext>
            </a:extLst>
          </p:cNvPr>
          <p:cNvSpPr txBox="1"/>
          <p:nvPr/>
        </p:nvSpPr>
        <p:spPr>
          <a:xfrm>
            <a:off x="838200" y="5086350"/>
            <a:ext cx="10515600" cy="609600"/>
          </a:xfrm>
        </p:spPr>
        <p:txBody>
          <a:bodyPr wrap="square" rtlCol="0"/>
          <a:lstStyle/>
          <a:p>
            <a:pPr algn="l"/>
            <a:r>
              <a:rPr sz="1200" b="1">
                <a:solidFill>
                  <a:srgbClr val="C00000"/>
                </a:solidFill>
              </a:rPr>
              <a:t>Deployment target — </a:t>
            </a:r>
            <a:r>
              <a:rPr sz="1200">
                <a:solidFill>
                  <a:srgbClr val="404040"/>
                </a:solidFill>
              </a:rPr>
              <a:t>Docker + docker-compose on a single host (API, dashboard, MLflow store). No GPU, no cloud dependency required for the demo.</a:t>
            </a:r>
          </a:p>
        </p:txBody>
      </p:sp>
    </p:spTree>
    <p:extLst>
      <p:ext uri="{BB962C8B-B14F-4D97-AF65-F5344CB8AC3E}">
        <p14:creationId xmlns:p14="http://schemas.microsoft.com/office/powerpoint/2010/main" val="1456846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975A5-231F-3390-D538-AD21B00A1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b="1"/>
              <a:t>Dataset &amp; Data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638BB-8BDB-3623-2D1B-27934252B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0850"/>
            <a:ext cx="10515600" cy="333375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00000"/>
                </a:solidFill>
              </a:rPr>
              <a:t>Source — </a:t>
            </a:r>
            <a:r>
              <a:rPr sz="1600">
                <a:solidFill>
                  <a:srgbClr val="262626"/>
                </a:solidFill>
              </a:rPr>
              <a:t>Kaggle Traffic Prediction Dataset (fedesoriano): hourly vehicle counts recorded at four junctions.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0000"/>
                </a:solidFill>
              </a:rPr>
              <a:t>Volume — </a:t>
            </a:r>
            <a:r>
              <a:rPr sz="1600">
                <a:solidFill>
                  <a:srgbClr val="262626"/>
                </a:solidFill>
              </a:rPr>
              <a:t>junctions 1–3 hold 14,592 rows each; junction 4 has 4,344 rows and starts on 1 Jan 2017.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0000"/>
                </a:solidFill>
              </a:rPr>
              <a:t>Preprocessing — </a:t>
            </a:r>
            <a:r>
              <a:rPr sz="1600">
                <a:solidFill>
                  <a:srgbClr val="262626"/>
                </a:solidFill>
              </a:rPr>
              <a:t>timestamp parsing, duplicate removal on (timestamp, junction), invalid counts dropped, temperature defaulted to 20 °C, counts clipped at zero.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0000"/>
                </a:solidFill>
              </a:rPr>
              <a:t>Split — </a:t>
            </a:r>
            <a:r>
              <a:rPr sz="1600">
                <a:solidFill>
                  <a:srgbClr val="262626"/>
                </a:solidFill>
              </a:rPr>
              <a:t>chronological 80/20 on timestamps: 35,904 train and 11,540 holdout rows, cutoff 2 Mar 2017 18:00. Never shuffled — shuffling leaks the future.</a:t>
            </a:r>
          </a:p>
          <a:p>
            <a:r>
              <a:rPr sz="1600" b="1">
                <a:solidFill>
                  <a:srgbClr val="C00000"/>
                </a:solidFill>
              </a:rPr>
              <a:t>Target — </a:t>
            </a:r>
            <a:r>
              <a:rPr sz="1600">
                <a:solidFill>
                  <a:srgbClr val="262626"/>
                </a:solidFill>
              </a:rPr>
              <a:t>vehicle count one hour ahead, per junction.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8190364-592B-4E21-BD94-79E3BC04E67A}"/>
              </a:ext>
            </a:extLst>
          </p:cNvPr>
          <p:cNvSpPr/>
          <p:nvPr/>
        </p:nvSpPr>
        <p:spPr>
          <a:xfrm>
            <a:off x="838200" y="1866900"/>
            <a:ext cx="33147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2400" b="1">
                <a:solidFill>
                  <a:srgbClr val="C00000"/>
                </a:solidFill>
              </a:rPr>
              <a:t>48,120</a:t>
            </a:r>
          </a:p>
          <a:p>
            <a:pPr algn="ctr"/>
            <a:r>
              <a:rPr sz="1000">
                <a:solidFill>
                  <a:srgbClr val="404040"/>
                </a:solidFill>
              </a:rPr>
              <a:t>hourly records across 4 junctions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D3378C7-49B9-438E-B6B0-5FF591959F19}"/>
              </a:ext>
            </a:extLst>
          </p:cNvPr>
          <p:cNvSpPr/>
          <p:nvPr/>
        </p:nvSpPr>
        <p:spPr>
          <a:xfrm>
            <a:off x="4438650" y="1866900"/>
            <a:ext cx="33147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2400" b="1">
                <a:solidFill>
                  <a:srgbClr val="C00000"/>
                </a:solidFill>
              </a:rPr>
              <a:t>20 months</a:t>
            </a:r>
          </a:p>
          <a:p>
            <a:pPr algn="ctr"/>
            <a:r>
              <a:rPr sz="1000">
                <a:solidFill>
                  <a:srgbClr val="404040"/>
                </a:solidFill>
              </a:rPr>
              <a:t>November 2015 to June 2017, hourly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6A9AFBD-8388-4A7F-91A3-8445E935A8D0}"/>
              </a:ext>
            </a:extLst>
          </p:cNvPr>
          <p:cNvSpPr/>
          <p:nvPr/>
        </p:nvSpPr>
        <p:spPr>
          <a:xfrm>
            <a:off x="8039100" y="1866900"/>
            <a:ext cx="33147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2400" b="1">
                <a:solidFill>
                  <a:srgbClr val="C00000"/>
                </a:solidFill>
              </a:rPr>
              <a:t>47,444</a:t>
            </a:r>
          </a:p>
          <a:p>
            <a:pPr algn="ctr"/>
            <a:r>
              <a:rPr sz="1000">
                <a:solidFill>
                  <a:srgbClr val="404040"/>
                </a:solidFill>
              </a:rPr>
              <a:t>supervised rows after lag windows</a:t>
            </a:r>
          </a:p>
        </p:txBody>
      </p:sp>
    </p:spTree>
    <p:extLst>
      <p:ext uri="{BB962C8B-B14F-4D97-AF65-F5344CB8AC3E}">
        <p14:creationId xmlns:p14="http://schemas.microsoft.com/office/powerpoint/2010/main" val="1458016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50D70-1435-C6A6-C11C-F75534824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b="1"/>
              <a:t>ML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92AB1-476E-13FF-8D38-23236D678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0850"/>
            <a:ext cx="10515600" cy="3333750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00000"/>
                </a:solidFill>
              </a:rPr>
              <a:t>Algorithm — </a:t>
            </a:r>
            <a:r>
              <a:rPr sz="1600">
                <a:solidFill>
                  <a:srgbClr val="262626"/>
                </a:solidFill>
              </a:rPr>
              <a:t>RandomForestRegressor inside a scikit-learn Pipeline: OneHotEncoder for junction, passthrough numerics.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0000"/>
                </a:solidFill>
              </a:rPr>
              <a:t>Hyperparameters — </a:t>
            </a:r>
            <a:r>
              <a:rPr sz="1600">
                <a:solidFill>
                  <a:srgbClr val="262626"/>
                </a:solidFill>
              </a:rPr>
              <a:t>120 trees, max_depth 20, min_samples_leaf 3, max_features 0.6, random_state 42.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0000"/>
                </a:solidFill>
              </a:rPr>
              <a:t>Features (16) — </a:t>
            </a:r>
            <a:r>
              <a:rPr sz="1600">
                <a:solidFill>
                  <a:srgbClr val="262626"/>
                </a:solidFill>
              </a:rPr>
              <a:t>lag_1/2/3/24/168, rolling_mean_24, cyclical hour, weekday and month, temperature_c, is_event, junction.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0000"/>
                </a:solidFill>
              </a:rPr>
              <a:t>Training — </a:t>
            </a:r>
            <a:r>
              <a:rPr sz="1600">
                <a:solidFill>
                  <a:srgbClr val="262626"/>
                </a:solidFill>
              </a:rPr>
              <a:t>chronological 80/20 split; the pipeline is logged with a signature and input example so serving accepts the same schema.</a:t>
            </a:r>
          </a:p>
          <a:p>
            <a:r>
              <a:rPr sz="1600" b="1">
                <a:solidFill>
                  <a:srgbClr val="C00000"/>
                </a:solidFill>
              </a:rPr>
              <a:t>Why this model — </a:t>
            </a:r>
            <a:r>
              <a:rPr sz="1600">
                <a:solidFill>
                  <a:srgbClr val="262626"/>
                </a:solidFill>
              </a:rPr>
              <a:t>tree ensembles capture non-linear peaks and interactions without scaling, and lag features encode the daily and weekly cycle.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506A622-8843-44B5-9FFC-0467516B0CB0}"/>
              </a:ext>
            </a:extLst>
          </p:cNvPr>
          <p:cNvSpPr/>
          <p:nvPr/>
        </p:nvSpPr>
        <p:spPr>
          <a:xfrm>
            <a:off x="838200" y="1866900"/>
            <a:ext cx="33147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2400" b="1">
                <a:solidFill>
                  <a:srgbClr val="C00000"/>
                </a:solidFill>
              </a:rPr>
              <a:t>4.73</a:t>
            </a:r>
          </a:p>
          <a:p>
            <a:pPr algn="ctr"/>
            <a:r>
              <a:rPr sz="1000">
                <a:solidFill>
                  <a:srgbClr val="404040"/>
                </a:solidFill>
              </a:rPr>
              <a:t>holdout RMSE (vehicles)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17443FA-FFBA-40E6-B76C-75D7F416C3CF}"/>
              </a:ext>
            </a:extLst>
          </p:cNvPr>
          <p:cNvSpPr/>
          <p:nvPr/>
        </p:nvSpPr>
        <p:spPr>
          <a:xfrm>
            <a:off x="4438650" y="1866900"/>
            <a:ext cx="33147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2400" b="1">
                <a:solidFill>
                  <a:srgbClr val="C00000"/>
                </a:solidFill>
              </a:rPr>
              <a:t>2.94</a:t>
            </a:r>
          </a:p>
          <a:p>
            <a:pPr algn="ctr"/>
            <a:r>
              <a:rPr sz="1000">
                <a:solidFill>
                  <a:srgbClr val="404040"/>
                </a:solidFill>
              </a:rPr>
              <a:t>holdout MAE (vehicles)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78B6A6F-8AB2-4153-8DC8-6B98EE4D8F82}"/>
              </a:ext>
            </a:extLst>
          </p:cNvPr>
          <p:cNvSpPr/>
          <p:nvPr/>
        </p:nvSpPr>
        <p:spPr>
          <a:xfrm>
            <a:off x="8039100" y="1866900"/>
            <a:ext cx="33147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2400" b="1">
                <a:solidFill>
                  <a:srgbClr val="C00000"/>
                </a:solidFill>
              </a:rPr>
              <a:t>0.9686</a:t>
            </a:r>
          </a:p>
          <a:p>
            <a:pPr algn="ctr"/>
            <a:r>
              <a:rPr sz="1000">
                <a:solidFill>
                  <a:srgbClr val="404040"/>
                </a:solidFill>
              </a:rPr>
              <a:t>R² on 11,540 unseen rows</a:t>
            </a:r>
          </a:p>
        </p:txBody>
      </p:sp>
    </p:spTree>
    <p:extLst>
      <p:ext uri="{BB962C8B-B14F-4D97-AF65-F5344CB8AC3E}">
        <p14:creationId xmlns:p14="http://schemas.microsoft.com/office/powerpoint/2010/main" val="12732599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70FE8-E413-11B3-8B3C-D4EDC182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/>
              <a:t>MLOps Pipeline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CF9F8A4-9908-4815-9781-84710B19EA13}"/>
              </a:ext>
            </a:extLst>
          </p:cNvPr>
          <p:cNvSpPr/>
          <p:nvPr/>
        </p:nvSpPr>
        <p:spPr>
          <a:xfrm>
            <a:off x="838200" y="1866900"/>
            <a:ext cx="1714500" cy="762000"/>
          </a:xfrm>
          <a:prstGeom prst="chevron">
            <a:avLst/>
          </a:prstGeom>
          <a:solidFill>
            <a:srgbClr val="00206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1 Validate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EBEF946-6FDB-435D-907F-93A255021D59}"/>
              </a:ext>
            </a:extLst>
          </p:cNvPr>
          <p:cNvSpPr/>
          <p:nvPr/>
        </p:nvSpPr>
        <p:spPr>
          <a:xfrm>
            <a:off x="2600325" y="1866900"/>
            <a:ext cx="1714500" cy="762000"/>
          </a:xfrm>
          <a:prstGeom prst="chevron">
            <a:avLst/>
          </a:prstGeom>
          <a:solidFill>
            <a:srgbClr val="00206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2 Features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FC645B0-C485-4168-85A5-62BF19727900}"/>
              </a:ext>
            </a:extLst>
          </p:cNvPr>
          <p:cNvSpPr/>
          <p:nvPr/>
        </p:nvSpPr>
        <p:spPr>
          <a:xfrm>
            <a:off x="4362450" y="1866900"/>
            <a:ext cx="1714500" cy="762000"/>
          </a:xfrm>
          <a:prstGeom prst="chevron">
            <a:avLst/>
          </a:prstGeom>
          <a:solidFill>
            <a:srgbClr val="00206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3 Train + log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6C77979-2571-4032-AF5B-E85F6AC1E80F}"/>
              </a:ext>
            </a:extLst>
          </p:cNvPr>
          <p:cNvSpPr/>
          <p:nvPr/>
        </p:nvSpPr>
        <p:spPr>
          <a:xfrm>
            <a:off x="6124575" y="1866900"/>
            <a:ext cx="1714500" cy="762000"/>
          </a:xfrm>
          <a:prstGeom prst="chevron">
            <a:avLst/>
          </a:prstGeom>
          <a:solidFill>
            <a:srgbClr val="00206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4 Register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A15C645-BD80-4934-91FA-F08A3CAD558C}"/>
              </a:ext>
            </a:extLst>
          </p:cNvPr>
          <p:cNvSpPr/>
          <p:nvPr/>
        </p:nvSpPr>
        <p:spPr>
          <a:xfrm>
            <a:off x="7886700" y="1866900"/>
            <a:ext cx="1714500" cy="762000"/>
          </a:xfrm>
          <a:prstGeom prst="chevron">
            <a:avLst/>
          </a:prstGeom>
          <a:solidFill>
            <a:srgbClr val="C0000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5 Promote gate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D23551C-81C7-4B41-8687-9E9AEF152629}"/>
              </a:ext>
            </a:extLst>
          </p:cNvPr>
          <p:cNvSpPr/>
          <p:nvPr/>
        </p:nvSpPr>
        <p:spPr>
          <a:xfrm>
            <a:off x="9648825" y="1866900"/>
            <a:ext cx="1714500" cy="762000"/>
          </a:xfrm>
          <a:prstGeom prst="chevron">
            <a:avLst/>
          </a:prstGeom>
          <a:solidFill>
            <a:srgbClr val="C00000"/>
          </a:solidFill>
        </p:spPr>
        <p:txBody>
          <a:bodyPr wrap="square" rtlCol="0"/>
          <a:lstStyle/>
          <a:p>
            <a:pPr algn="ctr"/>
            <a:r>
              <a:rPr sz="1150" b="1">
                <a:solidFill>
                  <a:srgbClr val="FFFFFF"/>
                </a:solidFill>
              </a:rPr>
              <a:t>6 Serve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3E7F493-D446-4891-998F-875966A041B4}"/>
              </a:ext>
            </a:extLst>
          </p:cNvPr>
          <p:cNvSpPr txBox="1"/>
          <p:nvPr/>
        </p:nvSpPr>
        <p:spPr>
          <a:xfrm>
            <a:off x="838200" y="2684475"/>
            <a:ext cx="1714500" cy="5524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Schema, duplicates, time zones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9C6E4A8-7F27-4D19-9D1A-B277583B83D6}"/>
              </a:ext>
            </a:extLst>
          </p:cNvPr>
          <p:cNvSpPr txBox="1"/>
          <p:nvPr/>
        </p:nvSpPr>
        <p:spPr>
          <a:xfrm>
            <a:off x="2600325" y="2684475"/>
            <a:ext cx="1714500" cy="5524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16 lag, rolling and calendar features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49269E5-643A-4C7C-AE6B-A3C313B717CF}"/>
              </a:ext>
            </a:extLst>
          </p:cNvPr>
          <p:cNvSpPr txBox="1"/>
          <p:nvPr/>
        </p:nvSpPr>
        <p:spPr>
          <a:xfrm>
            <a:off x="4362450" y="2684475"/>
            <a:ext cx="1714500" cy="5524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RandomForest pipeline + MLflow run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AAC07A7-F4A1-46E3-AE82-F3FCDD5C8321}"/>
              </a:ext>
            </a:extLst>
          </p:cNvPr>
          <p:cNvSpPr txBox="1"/>
          <p:nvPr/>
        </p:nvSpPr>
        <p:spPr>
          <a:xfrm>
            <a:off x="6124575" y="2684475"/>
            <a:ext cx="1714500" cy="5524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New version + dataset tag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FAA569B-81BA-4D0B-84A4-52439991601B}"/>
              </a:ext>
            </a:extLst>
          </p:cNvPr>
          <p:cNvSpPr txBox="1"/>
          <p:nvPr/>
        </p:nvSpPr>
        <p:spPr>
          <a:xfrm>
            <a:off x="7886700" y="2684475"/>
            <a:ext cx="1714500" cy="5524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Champion alias only if RMSE improves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AD8ABC8-AD57-4A09-8278-22C24783EE3E}"/>
              </a:ext>
            </a:extLst>
          </p:cNvPr>
          <p:cNvSpPr txBox="1"/>
          <p:nvPr/>
        </p:nvSpPr>
        <p:spPr>
          <a:xfrm>
            <a:off x="9648825" y="2684475"/>
            <a:ext cx="1714500" cy="552450"/>
          </a:xfrm>
        </p:spPr>
        <p:txBody>
          <a:bodyPr wrap="square" rtlCol="0"/>
          <a:lstStyle/>
          <a:p>
            <a:pPr algn="ctr"/>
            <a:r>
              <a:rPr sz="850">
                <a:solidFill>
                  <a:srgbClr val="404040"/>
                </a:solidFill>
              </a:rPr>
              <a:t>FastAPI, Streamlit, edge cache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8811BB4F-FAFA-4F74-96B6-84F54F5D25AF}"/>
              </a:ext>
            </a:extLst>
          </p:cNvPr>
          <p:cNvSpPr/>
          <p:nvPr/>
        </p:nvSpPr>
        <p:spPr>
          <a:xfrm>
            <a:off x="838200" y="3619500"/>
            <a:ext cx="51435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r>
              <a:rPr sz="1200" b="1">
                <a:solidFill>
                  <a:srgbClr val="C00000"/>
                </a:solidFill>
              </a:rPr>
              <a:t>Promotion rule</a:t>
            </a:r>
          </a:p>
          <a:p>
            <a:r>
              <a:rPr sz="1000">
                <a:solidFill>
                  <a:srgbClr val="404040"/>
                </a:solidFill>
              </a:rPr>
              <a:t>Every run is registered, but the champion alias moves only when holdout RMSE improves on the same dataset tag. A dataset change resets the comparison baseline.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B51A35E0-3938-4D26-89F0-F55A7AD11244}"/>
              </a:ext>
            </a:extLst>
          </p:cNvPr>
          <p:cNvSpPr/>
          <p:nvPr/>
        </p:nvSpPr>
        <p:spPr>
          <a:xfrm>
            <a:off x="6286500" y="3619500"/>
            <a:ext cx="51435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r>
              <a:rPr sz="1200" b="1">
                <a:solidFill>
                  <a:srgbClr val="C00000"/>
                </a:solidFill>
              </a:rPr>
              <a:t>Edge mirror</a:t>
            </a:r>
          </a:p>
          <a:p>
            <a:r>
              <a:rPr sz="1000">
                <a:solidFill>
                  <a:srgbClr val="404040"/>
                </a:solidFill>
              </a:rPr>
              <a:t>On promotion the artifact is copied to edge_cache/version-N with champion.json (skops format), so the dashboard and API keep serving without MLflow.</a:t>
            </a:r>
          </a:p>
        </p:txBody>
      </p:sp>
      <p:graphicFrame>
        <p:nvGraphicFramePr>
          <p:cNvPr id="18" name="Chart 18 - PSI by feature (threshold 0.2)" descr="qoder-office-chart">
            <a:extLst>
              <a:ext uri="{FF2B5EF4-FFF2-40B4-BE49-F238E27FC236}">
                <a16:creationId xmlns:a16="http://schemas.microsoft.com/office/drawing/2014/main" id="{EAD16046-E577-4DBB-A318-4D5096FBDEA6}"/>
              </a:ext>
            </a:extLst>
          </p:cNvPr>
          <p:cNvGraphicFramePr/>
          <p:nvPr/>
        </p:nvGraphicFramePr>
        <p:xfrm>
          <a:off x="838200" y="4667250"/>
          <a:ext cx="4953000" cy="1809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9" name="TextBox 19">
            <a:extLst>
              <a:ext uri="{FF2B5EF4-FFF2-40B4-BE49-F238E27FC236}">
                <a16:creationId xmlns:a16="http://schemas.microsoft.com/office/drawing/2014/main" id="{CB3E9C35-50D6-4E05-8682-E442F0E2BB66}"/>
              </a:ext>
            </a:extLst>
          </p:cNvPr>
          <p:cNvSpPr txBox="1"/>
          <p:nvPr/>
        </p:nvSpPr>
        <p:spPr>
          <a:xfrm>
            <a:off x="6096000" y="4667250"/>
            <a:ext cx="5257800" cy="1809750"/>
          </a:xfrm>
        </p:spPr>
        <p:txBody>
          <a:bodyPr wrap="square" rtlCol="0"/>
          <a:lstStyle/>
          <a:p>
            <a:pPr indent="-228600" marL="228600">
              <a:spcAft>
                <a:spcPts val="600"/>
              </a:spcAft>
              <a:buChar char="•"/>
            </a:pPr>
            <a:r>
              <a:rPr sz="1200" b="1">
                <a:solidFill>
                  <a:srgbClr val="262626"/>
                </a:solidFill>
              </a:rPr>
              <a:t>How it is measured — </a:t>
            </a:r>
            <a:r>
              <a:rPr sz="1200">
                <a:solidFill>
                  <a:srgbClr val="262626"/>
                </a:solidFill>
              </a:rPr>
              <a:t>PSI compares the baseline 70% with the recent 30% on four features.</a:t>
            </a:r>
          </a:p>
          <a:p>
            <a:pPr indent="-228600" marL="228600">
              <a:spcAft>
                <a:spcPts val="600"/>
              </a:spcAft>
              <a:buChar char="•"/>
            </a:pPr>
            <a:r>
              <a:rPr sz="1200" b="1">
                <a:solidFill>
                  <a:srgbClr val="262626"/>
                </a:solidFill>
              </a:rPr>
              <a:t>Current reading — </a:t>
            </a:r>
            <a:r>
              <a:rPr sz="1200">
                <a:solidFill>
                  <a:srgbClr val="262626"/>
                </a:solidFill>
              </a:rPr>
              <a:t>rolling_mean_24 0.592 (drift_detected); vehicles and lag_1 ≈ 0.116.</a:t>
            </a:r>
          </a:p>
          <a:p>
            <a:pPr indent="-228600" marL="228600">
              <a:spcAft>
                <a:spcPts val="600"/>
              </a:spcAft>
              <a:buChar char="•"/>
            </a:pPr>
            <a:r>
              <a:rPr sz="1200" b="1">
                <a:solidFill>
                  <a:srgbClr val="262626"/>
                </a:solidFill>
              </a:rPr>
              <a:t>A prompt, not a switch — </a:t>
            </a:r>
            <a:r>
              <a:rPr sz="1200">
                <a:solidFill>
                  <a:srgbClr val="262626"/>
                </a:solidFill>
              </a:rPr>
              <a:t>drift queues a reviewed retrain that must still pass the promotion gate.</a:t>
            </a:r>
          </a:p>
          <a:p>
            <a:pPr indent="-228600" marL="228600">
              <a:buChar char="•"/>
            </a:pPr>
            <a:r>
              <a:rPr sz="1200" b="1">
                <a:solidFill>
                  <a:srgbClr val="262626"/>
                </a:solidFill>
              </a:rPr>
              <a:t>Audit trail — </a:t>
            </a:r>
            <a:r>
              <a:rPr sz="1200">
                <a:solidFill>
                  <a:srgbClr val="262626"/>
                </a:solidFill>
              </a:rPr>
              <a:t>every monitor run logs psi_* metrics and a monitoring_window tag to MLflow.</a:t>
            </a:r>
          </a:p>
        </p:txBody>
      </p:sp>
    </p:spTree>
    <p:extLst>
      <p:ext uri="{BB962C8B-B14F-4D97-AF65-F5344CB8AC3E}">
        <p14:creationId xmlns:p14="http://schemas.microsoft.com/office/powerpoint/2010/main" val="3942524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56EB8-276C-4CB1-C76D-41524CBE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b="1"/>
              <a:t>Implementation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4AB2E-823F-E277-FE8C-890F0B896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4953000" cy="4352925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C00000"/>
                </a:solidFill>
              </a:rPr>
              <a:t>Workspace — </a:t>
            </a:r>
            <a:r>
              <a:rPr sz="1400">
                <a:solidFill>
                  <a:srgbClr val="262626"/>
                </a:solidFill>
              </a:rPr>
              <a:t>fifteen Streamlit modules on one CSS design system, no JavaScript.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00000"/>
                </a:solidFill>
              </a:rPr>
              <a:t>Service — </a:t>
            </a:r>
            <a:r>
              <a:rPr sz="1400">
                <a:solidFill>
                  <a:srgbClr val="262626"/>
                </a:solidFill>
              </a:rPr>
              <a:t>FastAPI with eight endpoints; the same champion powers UI and API.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00000"/>
                </a:solidFill>
              </a:rPr>
              <a:t>Registry — </a:t>
            </a:r>
            <a:r>
              <a:rPr sz="1400">
                <a:solidFill>
                  <a:srgbClr val="262626"/>
                </a:solidFill>
              </a:rPr>
              <a:t>MLflow 3.17 on a SQLite store with file artifacts; champion alias points at version 4.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00000"/>
                </a:solidFill>
              </a:rPr>
              <a:t>Code — </a:t>
            </a:r>
            <a:r>
              <a:rPr sz="1400">
                <a:solidFill>
                  <a:srgbClr val="262626"/>
                </a:solidFill>
              </a:rPr>
              <a:t>app.py, ten traffic_mlops modules, thirteen tests, and the screenshot pipeline in docs/.</a:t>
            </a:r>
          </a:p>
          <a:p>
            <a:r>
              <a:rPr sz="1400" b="1">
                <a:solidFill>
                  <a:srgbClr val="C00000"/>
                </a:solidFill>
              </a:rPr>
              <a:t>Status — </a:t>
            </a:r>
            <a:r>
              <a:rPr sz="1400">
                <a:solidFill>
                  <a:srgbClr val="262626"/>
                </a:solidFill>
              </a:rPr>
              <a:t>running locally: API on port 8000, dashboard on 8501, champion v4 live, drift flagged, 21 simulated alerts stored.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30A9B00-C77A-4B11-A784-59D5AEBE1FE5}"/>
              </a:ext>
            </a:extLst>
          </p:cNvPr>
          <p:cNvPicPr/>
          <p:nvPr/>
        </p:nvPicPr>
        <p:blipFill>
          <a:blip r:embed="rId2"/>
          <a:srcRect t="81" b="81"/>
          <a:stretch>
            <a:fillRect/>
          </a:stretch>
        </p:blipFill>
        <p:spPr>
          <a:xfrm>
            <a:off x="6286500" y="1809750"/>
            <a:ext cx="5143500" cy="2095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66917AC3-5F01-45BB-B48E-5F4A71ADD48F}"/>
              </a:ext>
            </a:extLst>
          </p:cNvPr>
          <p:cNvPicPr/>
          <p:nvPr/>
        </p:nvPicPr>
        <p:blipFill>
          <a:blip r:embed="rId3"/>
          <a:srcRect t="81" b="81"/>
          <a:stretch>
            <a:fillRect/>
          </a:stretch>
        </p:blipFill>
        <p:spPr>
          <a:xfrm>
            <a:off x="6286500" y="4048125"/>
            <a:ext cx="5143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18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C301-99DB-69EE-A82D-C48C63CF3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b="1"/>
              <a:t>Initial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E695FA-2624-1290-E8E9-F35EC6CF4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90850"/>
            <a:ext cx="4953000" cy="3333750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C00000"/>
                </a:solidFill>
              </a:rPr>
              <a:t>Accuracy — </a:t>
            </a:r>
            <a:r>
              <a:rPr sz="1350">
                <a:solidFill>
                  <a:srgbClr val="262626"/>
                </a:solidFill>
              </a:rPr>
              <a:t>average error of 2.94 vehicles and R² 0.969 on 11,540 unseen rows.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00000"/>
                </a:solidFill>
              </a:rPr>
              <a:t>Per junction — </a:t>
            </a:r>
            <a:r>
              <a:rPr sz="1350">
                <a:solidFill>
                  <a:srgbClr val="262626"/>
                </a:solidFill>
              </a:rPr>
              <a:t>the busiest junction is hardest: J1 RMSE 6.65 against J4 at 2.49.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C00000"/>
                </a:solidFill>
              </a:rPr>
              <a:t>Peaks — </a:t>
            </a:r>
            <a:r>
              <a:rPr sz="1350">
                <a:solidFill>
                  <a:srgbClr val="262626"/>
                </a:solidFill>
              </a:rPr>
              <a:t>rare spikes are under-predicted (134 actual vs 106 predicted), the known limit of a point forecast.</a:t>
            </a:r>
          </a:p>
          <a:p>
            <a:r>
              <a:rPr sz="1350" b="1">
                <a:solidFill>
                  <a:srgbClr val="C00000"/>
                </a:solidFill>
              </a:rPr>
              <a:t>Drift — </a:t>
            </a:r>
            <a:r>
              <a:rPr sz="1350">
                <a:solidFill>
                  <a:srgbClr val="262626"/>
                </a:solidFill>
              </a:rPr>
              <a:t>rolling_mean_24 PSI 0.592 is flagged, so retraining is queued for review rather than applied silently.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2AD97DE-A293-4F17-B10B-1610382F4D56}"/>
              </a:ext>
            </a:extLst>
          </p:cNvPr>
          <p:cNvSpPr/>
          <p:nvPr/>
        </p:nvSpPr>
        <p:spPr>
          <a:xfrm>
            <a:off x="838200" y="1866900"/>
            <a:ext cx="25146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2200" b="1">
                <a:solidFill>
                  <a:srgbClr val="C00000"/>
                </a:solidFill>
              </a:rPr>
              <a:t>6.65</a:t>
            </a:r>
          </a:p>
          <a:p>
            <a:pPr algn="ctr"/>
            <a:r>
              <a:rPr sz="950">
                <a:solidFill>
                  <a:srgbClr val="404040"/>
                </a:solidFill>
              </a:rPr>
              <a:t>Junction 1 RMSE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41ECB1F-5187-44CB-B3B0-1D916B778860}"/>
              </a:ext>
            </a:extLst>
          </p:cNvPr>
          <p:cNvSpPr/>
          <p:nvPr/>
        </p:nvSpPr>
        <p:spPr>
          <a:xfrm>
            <a:off x="3505200" y="1866900"/>
            <a:ext cx="25146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2200" b="1">
                <a:solidFill>
                  <a:srgbClr val="C00000"/>
                </a:solidFill>
              </a:rPr>
              <a:t>3.11</a:t>
            </a:r>
          </a:p>
          <a:p>
            <a:pPr algn="ctr"/>
            <a:r>
              <a:rPr sz="950">
                <a:solidFill>
                  <a:srgbClr val="404040"/>
                </a:solidFill>
              </a:rPr>
              <a:t>Junction 2 RMSE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956FC2A-5CA7-4064-8BAC-7FF5CA85C41E}"/>
              </a:ext>
            </a:extLst>
          </p:cNvPr>
          <p:cNvSpPr/>
          <p:nvPr/>
        </p:nvSpPr>
        <p:spPr>
          <a:xfrm>
            <a:off x="6172200" y="1866900"/>
            <a:ext cx="25146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2200" b="1">
                <a:solidFill>
                  <a:srgbClr val="C00000"/>
                </a:solidFill>
              </a:rPr>
              <a:t>5.43</a:t>
            </a:r>
          </a:p>
          <a:p>
            <a:pPr algn="ctr"/>
            <a:r>
              <a:rPr sz="950">
                <a:solidFill>
                  <a:srgbClr val="404040"/>
                </a:solidFill>
              </a:rPr>
              <a:t>Junction 3 RMSE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0454DF6-8C88-49E5-8EFB-F4EC6307094C}"/>
              </a:ext>
            </a:extLst>
          </p:cNvPr>
          <p:cNvSpPr/>
          <p:nvPr/>
        </p:nvSpPr>
        <p:spPr>
          <a:xfrm>
            <a:off x="8839200" y="1866900"/>
            <a:ext cx="2514600" cy="8763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ctr"/>
            <a:r>
              <a:rPr sz="2200" b="1">
                <a:solidFill>
                  <a:srgbClr val="C00000"/>
                </a:solidFill>
              </a:rPr>
              <a:t>2.49</a:t>
            </a:r>
          </a:p>
          <a:p>
            <a:pPr algn="ctr"/>
            <a:r>
              <a:rPr sz="950">
                <a:solidFill>
                  <a:srgbClr val="404040"/>
                </a:solidFill>
              </a:rPr>
              <a:t>Junction 4 RMSE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8E143D84-EBE3-4D18-930B-0183ECA9F2D9}"/>
              </a:ext>
            </a:extLst>
          </p:cNvPr>
          <p:cNvGraphicFramePr>
            <a:graphicFrameLocks noGrp="1"/>
          </p:cNvGraphicFramePr>
          <p:nvPr/>
        </p:nvGraphicFramePr>
        <p:xfrm>
          <a:off x="6286500" y="2990850"/>
          <a:ext cx="5067300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28750"/>
                <a:gridCol w="952500"/>
                <a:gridCol w="895350"/>
                <a:gridCol w="895350"/>
                <a:gridCol w="895350"/>
              </a:tblGrid>
              <a:tr h="40005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>
                    <a:lnL w="9525">
                      <a:solidFill>
                        <a:srgbClr val="D5DBE6"/>
                      </a:solidFill>
                    </a:lnL>
                    <a:lnR w="9525">
                      <a:solidFill>
                        <a:srgbClr val="D5DBE6"/>
                      </a:solidFill>
                    </a:lnR>
                    <a:lnT w="9525">
                      <a:solidFill>
                        <a:srgbClr val="D5DBE6"/>
                      </a:solidFill>
                    </a:lnT>
                    <a:lnB w="9525">
                      <a:solidFill>
                        <a:srgbClr val="D5DBE6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Junction</a:t>
                      </a:r>
                    </a:p>
                  </a:txBody>
                  <a:tcPr>
                    <a:lnL w="9525">
                      <a:solidFill>
                        <a:srgbClr val="D5DBE6"/>
                      </a:solidFill>
                    </a:lnL>
                    <a:lnR w="9525">
                      <a:solidFill>
                        <a:srgbClr val="D5DBE6"/>
                      </a:solidFill>
                    </a:lnR>
                    <a:lnT w="9525">
                      <a:solidFill>
                        <a:srgbClr val="D5DBE6"/>
                      </a:solidFill>
                    </a:lnT>
                    <a:lnB w="9525">
                      <a:solidFill>
                        <a:srgbClr val="D5DBE6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>
                    <a:lnL w="9525">
                      <a:solidFill>
                        <a:srgbClr val="D5DBE6"/>
                      </a:solidFill>
                    </a:lnL>
                    <a:lnR w="9525">
                      <a:solidFill>
                        <a:srgbClr val="D5DBE6"/>
                      </a:solidFill>
                    </a:lnR>
                    <a:lnT w="9525">
                      <a:solidFill>
                        <a:srgbClr val="D5DBE6"/>
                      </a:solidFill>
                    </a:lnT>
                    <a:lnB w="9525">
                      <a:solidFill>
                        <a:srgbClr val="D5DBE6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Predicted</a:t>
                      </a:r>
                    </a:p>
                  </a:txBody>
                  <a:tcPr>
                    <a:lnL w="9525">
                      <a:solidFill>
                        <a:srgbClr val="D5DBE6"/>
                      </a:solidFill>
                    </a:lnL>
                    <a:lnR w="9525">
                      <a:solidFill>
                        <a:srgbClr val="D5DBE6"/>
                      </a:solidFill>
                    </a:lnR>
                    <a:lnT w="9525">
                      <a:solidFill>
                        <a:srgbClr val="D5DBE6"/>
                      </a:solidFill>
                    </a:lnT>
                    <a:lnB w="9525">
                      <a:solidFill>
                        <a:srgbClr val="D5DBE6"/>
                      </a:solidFill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Error</a:t>
                      </a:r>
                    </a:p>
                  </a:txBody>
                  <a:tcPr>
                    <a:lnL w="9525">
                      <a:solidFill>
                        <a:srgbClr val="D5DBE6"/>
                      </a:solidFill>
                    </a:lnL>
                    <a:lnR w="9525">
                      <a:solidFill>
                        <a:srgbClr val="D5DBE6"/>
                      </a:solidFill>
                    </a:lnR>
                    <a:lnT w="9525">
                      <a:solidFill>
                        <a:srgbClr val="D5DBE6"/>
                      </a:solidFill>
                    </a:lnT>
                    <a:lnB w="9525">
                      <a:solidFill>
                        <a:srgbClr val="D5DBE6"/>
                      </a:solidFill>
                    </a:lnB>
                    <a:solidFill>
                      <a:srgbClr val="00206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2017-03-31 23:00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62.0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-1.0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2017-05-22 19:00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J2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41.9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-5.1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2017-06-22 14:00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J3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88.6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+5.6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2017-04-18 00:00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62626"/>
                          </a:solidFill>
                        </a:rPr>
                        <a:t>J4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62626"/>
                          </a:solidFill>
                        </a:rPr>
                        <a:t>-0.2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0000"/>
                          </a:solidFill>
                        </a:rPr>
                        <a:t>2017-06-06 16:00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C00000"/>
                          </a:solidFill>
                        </a:rPr>
                        <a:t>J1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134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</a:rPr>
                        <a:t>105.8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C00000"/>
                          </a:solidFill>
                        </a:rPr>
                        <a:t>-28.2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9">
            <a:extLst>
              <a:ext uri="{FF2B5EF4-FFF2-40B4-BE49-F238E27FC236}">
                <a16:creationId xmlns:a16="http://schemas.microsoft.com/office/drawing/2014/main" id="{57860C54-F524-438C-8F5E-EB8CEF471D6D}"/>
              </a:ext>
            </a:extLst>
          </p:cNvPr>
          <p:cNvSpPr txBox="1"/>
          <p:nvPr/>
        </p:nvSpPr>
        <p:spPr>
          <a:xfrm>
            <a:off x="6286500" y="5514975"/>
            <a:ext cx="5067300" cy="457200"/>
          </a:xfrm>
        </p:spPr>
        <p:txBody>
          <a:bodyPr wrap="square" rtlCol="0"/>
          <a:lstStyle/>
          <a:p>
            <a:pPr algn="l"/>
            <a:r>
              <a:rPr sz="1050" i="1">
                <a:solidFill>
                  <a:srgbClr val="666666"/>
                </a:solidFill>
              </a:rPr>
              <a:t>Real holdout rows scored by champion v4. The final row is a rare spike, where the model under-predicts.</a:t>
            </a:r>
          </a:p>
        </p:txBody>
      </p:sp>
    </p:spTree>
    <p:extLst>
      <p:ext uri="{BB962C8B-B14F-4D97-AF65-F5344CB8AC3E}">
        <p14:creationId xmlns:p14="http://schemas.microsoft.com/office/powerpoint/2010/main" val="269212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0AEE-7ECA-4668-26ED-0B0FE7676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b="1"/>
              <a:t>Challenges &amp;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955EC-236A-17E5-2002-6DFF321D6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C00000"/>
                </a:solidFill>
              </a:rPr>
              <a:t>Time-series leakage → </a:t>
            </a:r>
            <a:r>
              <a:rPr sz="1700">
                <a:solidFill>
                  <a:srgbClr val="262626"/>
                </a:solidFill>
              </a:rPr>
              <a:t>shuffled splits teach the model the future, so every split is chronological on timestamps.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00000"/>
                </a:solidFill>
              </a:rPr>
              <a:t>A registry that always promotes → </a:t>
            </a:r>
            <a:r>
              <a:rPr sz="1700">
                <a:solidFill>
                  <a:srgbClr val="262626"/>
                </a:solidFill>
              </a:rPr>
              <a:t>added a dataset-tagged RMSE comparison, so a worse candidate is registered but never served.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00000"/>
                </a:solidFill>
              </a:rPr>
              <a:t>Unreadable trend charts → </a:t>
            </a:r>
            <a:r>
              <a:rPr sz="1700">
                <a:solidFill>
                  <a:srgbClr val="262626"/>
                </a:solidFill>
              </a:rPr>
              <a:t>moved every history view onto virtual-tick axes and reseeded the feed, so the plots read at a glance.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C00000"/>
                </a:solidFill>
              </a:rPr>
              <a:t>A model nobody could use → </a:t>
            </a:r>
            <a:r>
              <a:rPr sz="1700">
                <a:solidFill>
                  <a:srgbClr val="262626"/>
                </a:solidFill>
              </a:rPr>
              <a:t>wrapped it in FastAPI and a fifteen-module workspace, so every number ends in an operator action.</a:t>
            </a:r>
          </a:p>
          <a:p>
            <a:r>
              <a:rPr sz="1700" b="1">
                <a:solidFill>
                  <a:srgbClr val="C00000"/>
                </a:solidFill>
              </a:rPr>
              <a:t>Demo without a network → </a:t>
            </a:r>
            <a:r>
              <a:rPr sz="1700">
                <a:solidFill>
                  <a:srgbClr val="262626"/>
                </a:solidFill>
              </a:rPr>
              <a:t>the champion is mirrored to an edge cache in skops format, so forecasting survives a dropped link.</a:t>
            </a:r>
          </a:p>
        </p:txBody>
      </p:sp>
    </p:spTree>
    <p:extLst>
      <p:ext uri="{BB962C8B-B14F-4D97-AF65-F5344CB8AC3E}">
        <p14:creationId xmlns:p14="http://schemas.microsoft.com/office/powerpoint/2010/main" val="3005449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A1A1C-DDFF-5C81-9CD3-9F76DF3B4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3800" b="1"/>
              <a:t>Work Planned — Review-2 &amp; Beyond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D44D1-FFEA-8976-156F-128816549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C00000"/>
                </a:solidFill>
              </a:rPr>
              <a:t>Deployment — </a:t>
            </a:r>
            <a:r>
              <a:rPr sz="1700">
                <a:solidFill>
                  <a:srgbClr val="262626"/>
                </a:solidFill>
              </a:rPr>
              <a:t>containerised API and dashboard on Docker Compose, with a managed MLflow store and CI on every push.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00000"/>
                </a:solidFill>
              </a:rPr>
              <a:t>Live data — </a:t>
            </a:r>
            <a:r>
              <a:rPr sz="1700">
                <a:solidFill>
                  <a:srgbClr val="262626"/>
                </a:solidFill>
              </a:rPr>
              <a:t>replace the historical feed with sensor or ANPR ingestion and a scheduled retrain job.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00000"/>
                </a:solidFill>
              </a:rPr>
              <a:t>Model — </a:t>
            </a:r>
            <a:r>
              <a:rPr sz="1700">
                <a:solidFill>
                  <a:srgbClr val="262626"/>
                </a:solidFill>
              </a:rPr>
              <a:t>benchmark gradient boosting and temporal models, and move from point forecasts to quantile bands.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00000"/>
                </a:solidFill>
              </a:rPr>
              <a:t>Incident vision — </a:t>
            </a:r>
            <a:r>
              <a:rPr sz="1700">
                <a:solidFill>
                  <a:srgbClr val="262626"/>
                </a:solidFill>
              </a:rPr>
              <a:t>replace the Pillow heuristic triage with a trained scene classifier.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C00000"/>
                </a:solidFill>
              </a:rPr>
              <a:t>Access — </a:t>
            </a:r>
            <a:r>
              <a:rPr sz="1700">
                <a:solidFill>
                  <a:srgbClr val="262626"/>
                </a:solidFill>
              </a:rPr>
              <a:t>a real identity provider with roles and an audit trail, replacing the session-only profile.</a:t>
            </a:r>
          </a:p>
          <a:p>
            <a:r>
              <a:rPr sz="1700" b="1">
                <a:solidFill>
                  <a:srgbClr val="C00000"/>
                </a:solidFill>
              </a:rPr>
              <a:t>Evaluation — </a:t>
            </a:r>
            <a:r>
              <a:rPr sz="1700">
                <a:solidFill>
                  <a:srgbClr val="262626"/>
                </a:solidFill>
              </a:rPr>
              <a:t>backtest the 24 h outlook against rolling ground truth and measure the drift-to-accuracy link.</a:t>
            </a:r>
          </a:p>
        </p:txBody>
      </p:sp>
    </p:spTree>
    <p:extLst>
      <p:ext uri="{BB962C8B-B14F-4D97-AF65-F5344CB8AC3E}">
        <p14:creationId xmlns:p14="http://schemas.microsoft.com/office/powerpoint/2010/main" val="40579795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437F4-AD15-5CC8-B54B-A204BA299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b="1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E31E5-6466-48FE-C654-D479B1DB6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sz="1750" b="1">
                <a:solidFill>
                  <a:srgbClr val="C00000"/>
                </a:solidFill>
              </a:rPr>
              <a:t>Delivered — </a:t>
            </a:r>
            <a:r>
              <a:rPr sz="1750">
                <a:solidFill>
                  <a:srgbClr val="262626"/>
                </a:solidFill>
              </a:rPr>
              <a:t>a complete MLOps lifecycle around a real four-junction dataset, from validation to a monitored, versioned service.</a:t>
            </a:r>
          </a:p>
          <a:p>
            <a:pPr>
              <a:spcAft>
                <a:spcPts val="1200"/>
              </a:spcAft>
            </a:pPr>
            <a:r>
              <a:rPr sz="1750" b="1">
                <a:solidFill>
                  <a:srgbClr val="C00000"/>
                </a:solidFill>
              </a:rPr>
              <a:t>Evidence — </a:t>
            </a:r>
            <a:r>
              <a:rPr sz="1750">
                <a:solidFill>
                  <a:srgbClr val="262626"/>
                </a:solidFill>
              </a:rPr>
              <a:t>champion v4 scores RMSE 4.73 and R² 0.969 on 11,540 held-out rows, and it was promoted by rule, not by choice.</a:t>
            </a:r>
          </a:p>
          <a:p>
            <a:pPr>
              <a:spcAft>
                <a:spcPts val="1200"/>
              </a:spcAft>
            </a:pPr>
            <a:r>
              <a:rPr sz="1750" b="1">
                <a:solidFill>
                  <a:srgbClr val="C00000"/>
                </a:solidFill>
              </a:rPr>
              <a:t>Operated — </a:t>
            </a:r>
            <a:r>
              <a:rPr sz="1750">
                <a:solidFill>
                  <a:srgbClr val="262626"/>
                </a:solidFill>
              </a:rPr>
              <a:t>fifteen workspace modules, eight API endpoints, 21 simulated alerts, five controllable devices and persisted acknowledgements.</a:t>
            </a:r>
          </a:p>
          <a:p>
            <a:pPr>
              <a:spcAft>
                <a:spcPts val="1200"/>
              </a:spcAft>
            </a:pPr>
            <a:r>
              <a:rPr sz="1750" b="1">
                <a:solidFill>
                  <a:srgbClr val="C00000"/>
                </a:solidFill>
              </a:rPr>
              <a:t>Trustworthy — </a:t>
            </a:r>
            <a:r>
              <a:rPr sz="1750">
                <a:solidFill>
                  <a:srgbClr val="262626"/>
                </a:solidFill>
              </a:rPr>
              <a:t>drift is measured (PSI 0.592), promotion is gated on RMSE, and offline fallback is real, not a slide.</a:t>
            </a:r>
          </a:p>
          <a:p>
            <a:r>
              <a:rPr sz="1750" b="1">
                <a:solidFill>
                  <a:srgbClr val="C00000"/>
                </a:solidFill>
              </a:rPr>
              <a:t>Next — </a:t>
            </a:r>
            <a:r>
              <a:rPr sz="1750">
                <a:solidFill>
                  <a:srgbClr val="262626"/>
                </a:solidFill>
              </a:rPr>
              <a:t>live ingestion, a learned incident model and a managed deployment for a real corridor.</a:t>
            </a:r>
          </a:p>
        </p:txBody>
      </p:sp>
    </p:spTree>
    <p:extLst>
      <p:ext uri="{BB962C8B-B14F-4D97-AF65-F5344CB8AC3E}">
        <p14:creationId xmlns:p14="http://schemas.microsoft.com/office/powerpoint/2010/main" val="2210152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91EE-B8C4-3653-D6C8-8AD0FA040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4000" lang="en-US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990665-6B91-26ED-F25F-D55E3F246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spcAft>
                <a:spcPts val="1600"/>
              </a:spcAft>
              <a:buNone/>
            </a:pPr>
            <a:r>
              <a:rPr sz="4200" b="1">
                <a:solidFill>
                  <a:srgbClr val="C00000"/>
                </a:solidFill>
              </a:rPr>
              <a:t>Thank You</a:t>
            </a:r>
          </a:p>
          <a:p>
            <a:pPr marL="0" indent="0" algn="l">
              <a:lnSpc>
                <a:spcPct val="110000"/>
              </a:lnSpc>
              <a:spcAft>
                <a:spcPts val="1600"/>
              </a:spcAft>
              <a:buNone/>
            </a:pPr>
            <a:r>
              <a:rPr sz="2200" b="1">
                <a:solidFill>
                  <a:srgbClr val="002060"/>
                </a:solidFill>
              </a:rPr>
              <a:t>Questions &amp; Discussion</a:t>
            </a:r>
          </a:p>
          <a:p>
            <a:pPr marL="0" indent="0" algn="l">
              <a:lnSpc>
                <a:spcPct val="110000"/>
              </a:lnSpc>
              <a:spcAft>
                <a:spcPts val="1600"/>
              </a:spcAft>
              <a:buNone/>
            </a:pPr>
            <a:r>
              <a:rPr sz="1400">
                <a:solidFill>
                  <a:srgbClr val="404040"/>
                </a:solidFill>
              </a:rPr>
              <a:t>Flow28 · Project 28 · K.Mahija (2400080129) · Sk.Anjum (2400080003) · P.Hasitha (2400080005)</a:t>
            </a:r>
          </a:p>
        </p:txBody>
      </p:sp>
    </p:spTree>
    <p:extLst>
      <p:ext uri="{BB962C8B-B14F-4D97-AF65-F5344CB8AC3E}">
        <p14:creationId xmlns:p14="http://schemas.microsoft.com/office/powerpoint/2010/main" val="1079154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91EE-B8C4-3653-D6C8-8AD0FA040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3600" lang="en-US" dirty="0"/>
              <a:t>Workspace in Action — Daily Operations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6E8F0F9-6066-4A3D-8170-2A1AA54325F9}"/>
              </a:ext>
            </a:extLst>
          </p:cNvPr>
          <p:cNvPicPr/>
          <p:nvPr/>
        </p:nvPicPr>
        <p:blipFill>
          <a:blip r:embed="rId2"/>
          <a:srcRect t="59" b="59"/>
          <a:stretch>
            <a:fillRect/>
          </a:stretch>
        </p:blipFill>
        <p:spPr>
          <a:xfrm>
            <a:off x="838200" y="1866900"/>
            <a:ext cx="3314700" cy="171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834BD9B-4EBC-4731-A2DF-6A08D99786DB}"/>
              </a:ext>
            </a:extLst>
          </p:cNvPr>
          <p:cNvPicPr/>
          <p:nvPr/>
        </p:nvPicPr>
        <p:blipFill>
          <a:blip r:embed="rId3"/>
          <a:srcRect t="59" b="59"/>
          <a:stretch>
            <a:fillRect/>
          </a:stretch>
        </p:blipFill>
        <p:spPr>
          <a:xfrm>
            <a:off x="4438650" y="1866900"/>
            <a:ext cx="3314700" cy="1714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C6AD069-C54A-42F6-A877-03F85EADDCEB}"/>
              </a:ext>
            </a:extLst>
          </p:cNvPr>
          <p:cNvPicPr/>
          <p:nvPr/>
        </p:nvPicPr>
        <p:blipFill>
          <a:blip r:embed="rId4"/>
          <a:srcRect t="59" b="59"/>
          <a:stretch>
            <a:fillRect/>
          </a:stretch>
        </p:blipFill>
        <p:spPr>
          <a:xfrm>
            <a:off x="8039100" y="1866900"/>
            <a:ext cx="3314700" cy="17145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EFE4894-A074-44F8-BDA3-2580430A230E}"/>
              </a:ext>
            </a:extLst>
          </p:cNvPr>
          <p:cNvPicPr/>
          <p:nvPr/>
        </p:nvPicPr>
        <p:blipFill>
          <a:blip r:embed="rId5"/>
          <a:srcRect t="59" b="59"/>
          <a:stretch>
            <a:fillRect/>
          </a:stretch>
        </p:blipFill>
        <p:spPr>
          <a:xfrm>
            <a:off x="838200" y="3905250"/>
            <a:ext cx="3314700" cy="1714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8329C92-C8D3-40F2-A49B-3D08A2002700}"/>
              </a:ext>
            </a:extLst>
          </p:cNvPr>
          <p:cNvPicPr/>
          <p:nvPr/>
        </p:nvPicPr>
        <p:blipFill>
          <a:blip r:embed="rId6"/>
          <a:srcRect t="59" b="59"/>
          <a:stretch>
            <a:fillRect/>
          </a:stretch>
        </p:blipFill>
        <p:spPr>
          <a:xfrm>
            <a:off x="4438650" y="3905250"/>
            <a:ext cx="3314700" cy="17145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E6180DA7-1327-4C22-95E3-1CD5E58B0B5D}"/>
              </a:ext>
            </a:extLst>
          </p:cNvPr>
          <p:cNvPicPr/>
          <p:nvPr/>
        </p:nvPicPr>
        <p:blipFill>
          <a:blip r:embed="rId7"/>
          <a:srcRect t="59" b="59"/>
          <a:stretch>
            <a:fillRect/>
          </a:stretch>
        </p:blipFill>
        <p:spPr>
          <a:xfrm>
            <a:off x="8039100" y="3905250"/>
            <a:ext cx="3314700" cy="17145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E0F31B5A-F6A4-4D27-9605-CD6898C4E044}"/>
              </a:ext>
            </a:extLst>
          </p:cNvPr>
          <p:cNvSpPr txBox="1"/>
          <p:nvPr/>
        </p:nvSpPr>
        <p:spPr>
          <a:xfrm>
            <a:off x="838200" y="361950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Login &amp; operator profile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16E5C49-614C-45D0-906F-FEA8D83ABFB2}"/>
              </a:ext>
            </a:extLst>
          </p:cNvPr>
          <p:cNvSpPr txBox="1"/>
          <p:nvPr/>
        </p:nvSpPr>
        <p:spPr>
          <a:xfrm>
            <a:off x="4438650" y="361950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Live sensor network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4950A9F-C265-4D62-A8BF-191E327AE6EC}"/>
              </a:ext>
            </a:extLst>
          </p:cNvPr>
          <p:cNvSpPr txBox="1"/>
          <p:nvPr/>
        </p:nvSpPr>
        <p:spPr>
          <a:xfrm>
            <a:off x="8039100" y="361950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Weather &amp; air quality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B25FEB8-FFB8-41AC-BC9F-22993356F053}"/>
              </a:ext>
            </a:extLst>
          </p:cNvPr>
          <p:cNvSpPr txBox="1"/>
          <p:nvPr/>
        </p:nvSpPr>
        <p:spPr>
          <a:xfrm>
            <a:off x="838200" y="565785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Alerts &amp; acknowledgements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41AFDEC-0B22-456B-81A0-631BBF8CB8F9}"/>
              </a:ext>
            </a:extLst>
          </p:cNvPr>
          <p:cNvSpPr txBox="1"/>
          <p:nvPr/>
        </p:nvSpPr>
        <p:spPr>
          <a:xfrm>
            <a:off x="4438650" y="565785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Junction map &amp; flow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C0151A2-761E-4D8A-B044-F72A56A83A72}"/>
              </a:ext>
            </a:extLst>
          </p:cNvPr>
          <p:cNvSpPr txBox="1"/>
          <p:nvPr/>
        </p:nvSpPr>
        <p:spPr>
          <a:xfrm>
            <a:off x="8039100" y="565785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Smart control &amp; signal plan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2F87F2F-AB6F-49B1-9C84-13362330D7BA}"/>
              </a:ext>
            </a:extLst>
          </p:cNvPr>
          <p:cNvSpPr txBox="1"/>
          <p:nvPr/>
        </p:nvSpPr>
        <p:spPr>
          <a:xfrm>
            <a:off x="838200" y="6191250"/>
            <a:ext cx="10515600" cy="228600"/>
          </a:xfrm>
        </p:spPr>
        <p:txBody>
          <a:bodyPr wrap="square" rtlCol="0"/>
          <a:lstStyle/>
          <a:p>
            <a:r>
              <a:rPr sz="1000" i="1">
                <a:solidFill>
                  <a:srgbClr val="666666"/>
                </a:solidFill>
              </a:rPr>
              <a:t>Captured from the running Flow28 dashboard — fifteen modules on one CSS design system, no JavaScript.</a:t>
            </a:r>
          </a:p>
        </p:txBody>
      </p:sp>
    </p:spTree>
    <p:extLst>
      <p:ext uri="{BB962C8B-B14F-4D97-AF65-F5344CB8AC3E}">
        <p14:creationId xmlns:p14="http://schemas.microsoft.com/office/powerpoint/2010/main" val="10791549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91EE-B8C4-3653-D6C8-8AD0FA040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3600" lang="en-US" dirty="0"/>
              <a:t>Workspace in Action — Forecast &amp; Advisory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E6E8F0F9-6066-4A3D-8170-2A1AA54325F9}"/>
              </a:ext>
            </a:extLst>
          </p:cNvPr>
          <p:cNvPicPr/>
          <p:nvPr/>
        </p:nvPicPr>
        <p:blipFill>
          <a:blip r:embed="rId8"/>
          <a:srcRect t="59" b="59"/>
          <a:stretch>
            <a:fillRect/>
          </a:stretch>
        </p:blipFill>
        <p:spPr>
          <a:xfrm>
            <a:off x="838200" y="1866900"/>
            <a:ext cx="3314700" cy="17145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8834BD9B-4EBC-4731-A2DF-6A08D99786DB}"/>
              </a:ext>
            </a:extLst>
          </p:cNvPr>
          <p:cNvPicPr/>
          <p:nvPr/>
        </p:nvPicPr>
        <p:blipFill>
          <a:blip r:embed="rId9"/>
          <a:srcRect t="59" b="59"/>
          <a:stretch>
            <a:fillRect/>
          </a:stretch>
        </p:blipFill>
        <p:spPr>
          <a:xfrm>
            <a:off x="4438650" y="1866900"/>
            <a:ext cx="3314700" cy="17145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C6AD069-C54A-42F6-A877-03F85EADDCEB}"/>
              </a:ext>
            </a:extLst>
          </p:cNvPr>
          <p:cNvPicPr/>
          <p:nvPr/>
        </p:nvPicPr>
        <p:blipFill>
          <a:blip r:embed="rId10"/>
          <a:srcRect t="59" b="59"/>
          <a:stretch>
            <a:fillRect/>
          </a:stretch>
        </p:blipFill>
        <p:spPr>
          <a:xfrm>
            <a:off x="8039100" y="1866900"/>
            <a:ext cx="3314700" cy="17145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5EFE4894-A074-44F8-BDA3-2580430A230E}"/>
              </a:ext>
            </a:extLst>
          </p:cNvPr>
          <p:cNvPicPr/>
          <p:nvPr/>
        </p:nvPicPr>
        <p:blipFill>
          <a:blip r:embed="rId11"/>
          <a:srcRect t="59" b="59"/>
          <a:stretch>
            <a:fillRect/>
          </a:stretch>
        </p:blipFill>
        <p:spPr>
          <a:xfrm>
            <a:off x="838200" y="3905250"/>
            <a:ext cx="3314700" cy="1714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48329C92-C8D3-40F2-A49B-3D08A2002700}"/>
              </a:ext>
            </a:extLst>
          </p:cNvPr>
          <p:cNvPicPr/>
          <p:nvPr/>
        </p:nvPicPr>
        <p:blipFill>
          <a:blip r:embed="rId12"/>
          <a:srcRect t="59" b="59"/>
          <a:stretch>
            <a:fillRect/>
          </a:stretch>
        </p:blipFill>
        <p:spPr>
          <a:xfrm>
            <a:off x="4438650" y="3905250"/>
            <a:ext cx="3314700" cy="17145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E6180DA7-1327-4C22-95E3-1CD5E58B0B5D}"/>
              </a:ext>
            </a:extLst>
          </p:cNvPr>
          <p:cNvPicPr/>
          <p:nvPr/>
        </p:nvPicPr>
        <p:blipFill>
          <a:blip r:embed="rId13"/>
          <a:srcRect t="59" b="59"/>
          <a:stretch>
            <a:fillRect/>
          </a:stretch>
        </p:blipFill>
        <p:spPr>
          <a:xfrm>
            <a:off x="8039100" y="3905250"/>
            <a:ext cx="3314700" cy="17145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E0F31B5A-F6A4-4D27-9605-CD6898C4E044}"/>
              </a:ext>
            </a:extLst>
          </p:cNvPr>
          <p:cNvSpPr txBox="1"/>
          <p:nvPr/>
        </p:nvSpPr>
        <p:spPr>
          <a:xfrm>
            <a:off x="838200" y="361950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Forecast &amp; 24 h outlook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16E5C49-614C-45D0-906F-FEA8D83ABFB2}"/>
              </a:ext>
            </a:extLst>
          </p:cNvPr>
          <p:cNvSpPr txBox="1"/>
          <p:nvPr/>
        </p:nvSpPr>
        <p:spPr>
          <a:xfrm>
            <a:off x="4438650" y="361950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Incident vision triage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4950A9F-C265-4D62-A8BF-191E327AE6EC}"/>
              </a:ext>
            </a:extLst>
          </p:cNvPr>
          <p:cNvSpPr txBox="1"/>
          <p:nvPr/>
        </p:nvSpPr>
        <p:spPr>
          <a:xfrm>
            <a:off x="8039100" y="361950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Corridor advisory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B25FEB8-FFB8-41AC-BC9F-22993356F053}"/>
              </a:ext>
            </a:extLst>
          </p:cNvPr>
          <p:cNvSpPr txBox="1"/>
          <p:nvPr/>
        </p:nvSpPr>
        <p:spPr>
          <a:xfrm>
            <a:off x="838200" y="565785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Operator assistant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41AFDEC-0B22-456B-81A0-631BBF8CB8F9}"/>
              </a:ext>
            </a:extLst>
          </p:cNvPr>
          <p:cNvSpPr txBox="1"/>
          <p:nvPr/>
        </p:nvSpPr>
        <p:spPr>
          <a:xfrm>
            <a:off x="4438650" y="565785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Edge AI offline fallback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C0151A2-761E-4D8A-B044-F72A56A83A72}"/>
              </a:ext>
            </a:extLst>
          </p:cNvPr>
          <p:cNvSpPr txBox="1"/>
          <p:nvPr/>
        </p:nvSpPr>
        <p:spPr>
          <a:xfrm>
            <a:off x="8039100" y="5657850"/>
            <a:ext cx="3314700" cy="247650"/>
          </a:xfrm>
        </p:spPr>
        <p:txBody>
          <a:bodyPr wrap="square" rtlCol="0"/>
          <a:lstStyle/>
          <a:p>
            <a:r>
              <a:rPr sz="1100" b="1">
                <a:solidFill>
                  <a:srgbClr val="002060"/>
                </a:solidFill>
              </a:rPr>
              <a:t>Analytics &amp; reports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2F87F2F-AB6F-49B1-9C84-13362330D7BA}"/>
              </a:ext>
            </a:extLst>
          </p:cNvPr>
          <p:cNvSpPr txBox="1"/>
          <p:nvPr/>
        </p:nvSpPr>
        <p:spPr>
          <a:xfrm>
            <a:off x="838200" y="6191250"/>
            <a:ext cx="10515600" cy="228600"/>
          </a:xfrm>
        </p:spPr>
        <p:txBody>
          <a:bodyPr wrap="square" rtlCol="0"/>
          <a:lstStyle/>
          <a:p>
            <a:r>
              <a:rPr sz="1000" i="1">
                <a:solidFill>
                  <a:srgbClr val="666666"/>
                </a:solidFill>
              </a:rPr>
              <a:t>Every forecast, alert and advisory on these screens is produced by champion v4 — the same model that serves the API.</a:t>
            </a:r>
          </a:p>
        </p:txBody>
      </p:sp>
    </p:spTree>
    <p:extLst>
      <p:ext uri="{BB962C8B-B14F-4D97-AF65-F5344CB8AC3E}">
        <p14:creationId xmlns:p14="http://schemas.microsoft.com/office/powerpoint/2010/main" val="10791549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791EE-B8C4-3653-D6C8-8AD0FA040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950"/>
            <a:ext cx="10515600" cy="685800"/>
          </a:xfrm>
        </p:spPr>
        <p:txBody>
          <a:bodyPr>
            <a:normAutofit fontScale="90000"/>
          </a:bodyPr>
          <a:lstStyle/>
          <a:p>
            <a:r>
              <a:rPr sz="3600" lang="en-US" dirty="0"/>
              <a:t>Workflow in Action — MLOps Evidence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F845BBB-77B7-480C-B012-22D9CE1C46FB}"/>
              </a:ext>
            </a:extLst>
          </p:cNvPr>
          <p:cNvPicPr/>
          <p:nvPr/>
        </p:nvPicPr>
        <p:blipFill>
          <a:blip r:embed="rId2"/>
          <a:srcRect l="31" r="31"/>
          <a:stretch>
            <a:fillRect/>
          </a:stretch>
        </p:blipFill>
        <p:spPr>
          <a:xfrm>
            <a:off x="838200" y="1828800"/>
            <a:ext cx="5143500" cy="21717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76A50626-7A5F-4EFE-ADF1-4505BC0AEF0F}"/>
              </a:ext>
            </a:extLst>
          </p:cNvPr>
          <p:cNvPicPr/>
          <p:nvPr/>
        </p:nvPicPr>
        <p:blipFill>
          <a:blip r:embed="rId3"/>
          <a:srcRect l="31" r="31"/>
          <a:stretch>
            <a:fillRect/>
          </a:stretch>
        </p:blipFill>
        <p:spPr>
          <a:xfrm>
            <a:off x="838200" y="4343400"/>
            <a:ext cx="5143500" cy="21717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FE7D45FD-5242-446F-941D-F99403CDF236}"/>
              </a:ext>
            </a:extLst>
          </p:cNvPr>
          <p:cNvSpPr txBox="1"/>
          <p:nvPr/>
        </p:nvSpPr>
        <p:spPr>
          <a:xfrm>
            <a:off x="838200" y="4019550"/>
            <a:ext cx="5143500" cy="228600"/>
          </a:xfrm>
        </p:spPr>
        <p:txBody>
          <a:bodyPr wrap="square" rtlCol="0"/>
          <a:lstStyle/>
          <a:p>
            <a:r>
              <a:rPr sz="1000" b="1">
                <a:solidFill>
                  <a:srgbClr val="002060"/>
                </a:solidFill>
              </a:rPr>
              <a:t>MLOps &amp; data — versions, metrics and drift status in one view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05098DB-F26A-46DA-BFF7-96A6A23CDBCF}"/>
              </a:ext>
            </a:extLst>
          </p:cNvPr>
          <p:cNvSpPr txBox="1"/>
          <p:nvPr/>
        </p:nvSpPr>
        <p:spPr>
          <a:xfrm>
            <a:off x="838200" y="6534150"/>
            <a:ext cx="5143500" cy="228600"/>
          </a:xfrm>
        </p:spPr>
        <p:txBody>
          <a:bodyPr wrap="square" rtlCol="0"/>
          <a:lstStyle/>
          <a:p>
            <a:r>
              <a:rPr sz="1000" b="1">
                <a:solidFill>
                  <a:srgbClr val="002060"/>
                </a:solidFill>
              </a:rPr>
              <a:t>Software simulation lab — the digital twin behind the demo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CE71181-6F9B-46C8-B242-8F0BA06EA912}"/>
              </a:ext>
            </a:extLst>
          </p:cNvPr>
          <p:cNvSpPr/>
          <p:nvPr/>
        </p:nvSpPr>
        <p:spPr>
          <a:xfrm>
            <a:off x="6286500" y="1828800"/>
            <a:ext cx="5067300" cy="13335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l"/>
            <a:r>
              <a:rPr sz="1200" b="1">
                <a:solidFill>
                  <a:srgbClr val="002060"/>
                </a:solidFill>
              </a:rPr>
              <a:t>MLflow tracking</a:t>
            </a:r>
          </a:p>
          <a:p>
            <a:pPr algn="l"/>
            <a:r>
              <a:rPr sz="1100">
                <a:solidFill>
                  <a:srgbClr val="404040"/>
                </a:solidFill>
              </a:rPr>
              <a:t>Every training run logs params, metrics, signature and artifact; each model version is registered with its dataset tag.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2068C75-1878-419D-8C08-19449F2BA458}"/>
              </a:ext>
            </a:extLst>
          </p:cNvPr>
          <p:cNvSpPr/>
          <p:nvPr/>
        </p:nvSpPr>
        <p:spPr>
          <a:xfrm>
            <a:off x="6286500" y="3257550"/>
            <a:ext cx="5067300" cy="13335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l"/>
            <a:r>
              <a:rPr sz="1200" b="1">
                <a:solidFill>
                  <a:srgbClr val="002060"/>
                </a:solidFill>
              </a:rPr>
              <a:t>Champion &amp; edge cache</a:t>
            </a:r>
          </a:p>
          <a:p>
            <a:pPr algn="l"/>
            <a:r>
              <a:rPr sz="1100">
                <a:solidFill>
                  <a:srgbClr val="404040"/>
                </a:solidFill>
              </a:rPr>
              <a:t>Version 4 holds the champion alias and is mirrored to edge_cache as a skops file, so forecasting survives a dropped link.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F904CA3-2D29-4DBE-93FD-06D68FC6F240}"/>
              </a:ext>
            </a:extLst>
          </p:cNvPr>
          <p:cNvSpPr/>
          <p:nvPr/>
        </p:nvSpPr>
        <p:spPr>
          <a:xfrm>
            <a:off x="6286500" y="4686300"/>
            <a:ext cx="5067300" cy="13335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5DBE6"/>
            </a:solidFill>
          </a:ln>
        </p:spPr>
        <p:txBody>
          <a:bodyPr wrap="square" rtlCol="0"/>
          <a:lstStyle/>
          <a:p>
            <a:pPr algn="l"/>
            <a:r>
              <a:rPr sz="1200" b="1">
                <a:solidFill>
                  <a:srgbClr val="002060"/>
                </a:solidFill>
              </a:rPr>
              <a:t>Tests &amp; alerts</a:t>
            </a:r>
          </a:p>
          <a:p>
            <a:pPr algn="l"/>
            <a:r>
              <a:rPr sz="1100">
                <a:solidFill>
                  <a:srgbClr val="404040"/>
                </a:solidFill>
              </a:rPr>
              <a:t>Thirteen unit tests cover validation, the promotion gate and advisory rules; twenty-one simulated alerts are stored in SQLite.</a:t>
            </a:r>
          </a:p>
        </p:txBody>
      </p:sp>
    </p:spTree>
    <p:extLst>
      <p:ext uri="{BB962C8B-B14F-4D97-AF65-F5344CB8AC3E}">
        <p14:creationId xmlns:p14="http://schemas.microsoft.com/office/powerpoint/2010/main" val="1079154995"/>
      </p:ext>
    </p:extLst>
  </p:cSld>
  <p:clrMapOvr>
    <a:masterClrMapping/>
  </p:clrMapOvr>
</p:sld>
</file>

<file path=ppt/theme/theme1.xml><?xml version="1.0" encoding="utf-8"?>
<a:theme xmlns:a="http://schemas.openxmlformats.org/drawingml/2006/main" name="course PresentationTemplet 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ourse PresentationTemplet 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PresentationTemplet </Template>
  <TotalTime>11</TotalTime>
  <Words>208</Words>
  <Application>Microsoft Office PowerPoint</Application>
  <PresentationFormat>Widescreen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Times New Roman</vt:lpstr>
      <vt:lpstr>course PresentationTemplet </vt:lpstr>
      <vt:lpstr>MACHINE LEARNING OPERATIONS</vt:lpstr>
      <vt:lpstr>Project Title </vt:lpstr>
      <vt:lpstr>Problem Statement </vt:lpstr>
      <vt:lpstr>Objectives </vt:lpstr>
      <vt:lpstr>Proposed Solution </vt:lpstr>
      <vt:lpstr>System Architecture </vt:lpstr>
      <vt:lpstr>Technology Stack</vt:lpstr>
      <vt:lpstr>Dataset &amp; Data Preparation </vt:lpstr>
      <vt:lpstr>ML Model </vt:lpstr>
      <vt:lpstr>MLOps Pipeline</vt:lpstr>
      <vt:lpstr>Implementation Progress </vt:lpstr>
      <vt:lpstr>Initial Results </vt:lpstr>
      <vt:lpstr>Challenges &amp; Solutions </vt:lpstr>
      <vt:lpstr>Work Planned for Review-2 </vt:lpstr>
      <vt:lpstr>Conclusion 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</dc:creator>
  <cp:lastModifiedBy>sagar</cp:lastModifiedBy>
  <cp:revision>2</cp:revision>
  <dcterms:created xsi:type="dcterms:W3CDTF">2026-09-20T15:48:46Z</dcterms:created>
  <dcterms:modified xsi:type="dcterms:W3CDTF">2026-09-20T16:00:30Z</dcterms:modified>
</cp:coreProperties>
</file>